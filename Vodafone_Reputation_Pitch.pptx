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Не читати слайд. Пауза, погляд у зал, і одразу перша цитата.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Цю людину Vodafone не побачив: вона не дзвонила в підтримку, написала у відгуку і пішла. Таких прямих заяв — одинадцять за рік. Кожен абонент — 1848 грн на рік за їхньою ж звітністю.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Покриття — єдина тема, де результат аналізу веде інженера на конкретну локацію. Тому це не маленька вибірка, а дисциплінований фокус.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Це не три окремі модулі: один запис проходить одну перевірку, а далі кожна команда бачить свій зріз.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Без системи про це дізнаються вранці, коли в чаті вже двадцять новин, і компанія виглядає так, ніби мовчала півдоби.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Керівник бачить підсумок, аналітик за один клік — записи, з яких той підсумок склався, і оригінал кожного повідомлення.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Знахідка, якої не видно у внутрішній статистиці: формально оператор ні до чого, фактично це його проблема і його бюджет.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Найважливіший слайд для довіри. Казати прямо, не пом’якшувати.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Ми не називаємо вигадану суму зекономлених мільйонів. Ми ставимо вимірюваний поріг: якщо пілот не дає навіть цього — зупиніть його.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058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Репутація і кризи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у відкритих джерелах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93192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Система бачить, що саме зламалось і де — а не просто «негатив виріс»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12064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>20 627 відкритих згадок за рік · вересень 2025 — вересень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>
                <a:solidFill>
                  <a:srgbClr val="1A1A1A"/>
                </a:solidFill>
                <a:latin typeface="Arial"/>
              </a:rPr>
              <a:t>«Буду розривати контракт,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>
                <a:solidFill>
                  <a:srgbClr val="1A1A1A"/>
                </a:solidFill>
                <a:latin typeface="Arial"/>
              </a:rPr>
              <a:t>краще вже на Лайф перейти»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5852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Arial"/>
              </a:rPr>
              <a:t>Реальний відгук абонента Vodafone. Персональні дані не збираємо.</a:t>
            </a:r>
          </a:p>
        </p:txBody>
      </p:sp>
      <p:sp>
        <p:nvSpPr>
          <p:cNvPr id="5" name="Rectangle 4"/>
          <p:cNvSpPr/>
          <p:nvPr/>
        </p:nvSpPr>
        <p:spPr>
          <a:xfrm>
            <a:off x="6766560" y="1920240"/>
            <a:ext cx="4663440" cy="36576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78040" y="2240280"/>
            <a:ext cx="3931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4400" b="1">
                <a:solidFill>
                  <a:srgbClr val="E60000"/>
                </a:solidFill>
                <a:latin typeface="Arial"/>
              </a:rPr>
              <a:t>1 848 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78040" y="3017520"/>
            <a:ext cx="3931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Arial"/>
              </a:rPr>
              <a:t>приносить один абонент за рік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Arial"/>
              </a:rPr>
              <a:t>ARPU 154 грн × 12 — звітність Vodafone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78040" y="4069080"/>
            <a:ext cx="3931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3400" b="1">
                <a:solidFill>
                  <a:srgbClr val="1A1A1A"/>
                </a:solidFill>
                <a:latin typeface="Arial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78040" y="4846320"/>
            <a:ext cx="3931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Arial"/>
              </a:rPr>
              <a:t>прямих заяв «я йду» за рік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Arial"/>
              </a:rPr>
              <a:t>тільки ті, хто сказав уголос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17220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Arial"/>
              </a:rPr>
              <a:t>Внутрішня статистика показує тих, хто поскаржився. Ми показуємо тих, хто мовчки збирається піти.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200" b="1">
                <a:solidFill>
                  <a:srgbClr val="1A1A1A"/>
                </a:solidFill>
                <a:latin typeface="Arial"/>
              </a:rPr>
              <a:t>З 20 627 згадок залишили 251 —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200" b="1">
                <a:solidFill>
                  <a:srgbClr val="1A1A1A"/>
                </a:solidFill>
                <a:latin typeface="Arial"/>
              </a:rPr>
              <a:t>ті, з якими можна щось зробити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2011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6B6B6B"/>
                </a:solidFill>
                <a:latin typeface="Arial"/>
              </a:rPr>
              <a:t>20 627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0" y="2487168"/>
            <a:ext cx="7772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6B6B6B"/>
                </a:solidFill>
                <a:latin typeface="Arial"/>
              </a:rPr>
              <a:t>відкритих згадок за рік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154680"/>
            <a:ext cx="2011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6B6B6B"/>
                </a:solidFill>
                <a:latin typeface="Arial"/>
              </a:rPr>
              <a:t>9 610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3264408"/>
            <a:ext cx="7772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6B6B6B"/>
                </a:solidFill>
                <a:latin typeface="Arial"/>
              </a:rPr>
              <a:t>згадок про Vodafone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931920"/>
            <a:ext cx="2011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1A1A1A"/>
                </a:solidFill>
                <a:latin typeface="Arial"/>
              </a:rPr>
              <a:t>1 130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4041648"/>
            <a:ext cx="7772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скарг на Vodafone за всіма темами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709160"/>
            <a:ext cx="2011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E60000"/>
                </a:solidFill>
                <a:latin typeface="Arial"/>
              </a:rPr>
              <a:t>251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4818888"/>
            <a:ext cx="7772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E60000"/>
                </a:solidFill>
                <a:latin typeface="Arial"/>
              </a:rPr>
              <a:t>скарга про звʼязок — фокус системи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17220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Arial"/>
              </a:rPr>
              <a:t>Решта скарг у базі: застосунок 241, тарифи 164, списання 59. Ми не вдаємо, що знаємо, як їх вирішити. 251 — це кількість публічних скарг, а не постраждалих абонентів.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200" b="1">
                <a:solidFill>
                  <a:srgbClr val="1A1A1A"/>
                </a:solidFill>
                <a:latin typeface="Arial"/>
              </a:rPr>
              <a:t>Один потік даних — три різні дії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103120"/>
            <a:ext cx="10607040" cy="6858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40280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Google Play · App Store · Google News · 38 публічних Telegram-каналів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971800"/>
            <a:ext cx="10607040" cy="6858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108960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Збір і дедуплікація  →  тональність · причина · локація · ризик  →  детектор криз  →  дашборд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977639"/>
            <a:ext cx="34290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416052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E60000"/>
                </a:solidFill>
                <a:latin typeface="Arial"/>
              </a:rPr>
              <a:t>Комунікації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663440"/>
            <a:ext cx="3017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Arial"/>
              </a:rPr>
              <a:t>як тема звучить публічно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Arial"/>
              </a:rPr>
              <a:t>і чи підхопили медіа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34840" y="3977639"/>
            <a:ext cx="34290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416052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E60000"/>
                </a:solidFill>
                <a:latin typeface="Arial"/>
              </a:rPr>
              <a:t>Технічна команда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4663440"/>
            <a:ext cx="3017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Arial"/>
              </a:rPr>
              <a:t>що саме зламалось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Arial"/>
              </a:rPr>
              <a:t>і де перевіряти мережу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3977639"/>
            <a:ext cx="34290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416052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E60000"/>
                </a:solidFill>
                <a:latin typeface="Arial"/>
              </a:rPr>
              <a:t>Підтримка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4663440"/>
            <a:ext cx="3017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Arial"/>
              </a:rPr>
              <a:t>якими словами клієнт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Arial"/>
              </a:rPr>
              <a:t>описує проблему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17220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Arial"/>
              </a:rPr>
              <a:t>Тільки відкриті джерела. Персональні дані авторів не збираємо. Модель тональності навчена на зірках відгуків — розмітка безкоштовна, усе рахується локально.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200" b="1">
                <a:solidFill>
                  <a:srgbClr val="1A1A1A"/>
                </a:solidFill>
                <a:latin typeface="Arial"/>
              </a:rPr>
              <a:t>2 липня 2026: атака РФ по інфраструктурі Vodafone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286000"/>
            <a:ext cx="2514600" cy="23774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" y="2468880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E60000"/>
                </a:solidFill>
                <a:latin typeface="Arial"/>
              </a:rPr>
              <a:t>Сплеск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3017520"/>
            <a:ext cx="21945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18 негативних згадок про масовий збій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проти норми 0 — це ×36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0" y="2286000"/>
            <a:ext cx="2514600" cy="23774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75888" y="2468880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E60000"/>
                </a:solidFill>
                <a:latin typeface="Arial"/>
              </a:rPr>
              <a:t>Підтвердження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75888" y="3017520"/>
            <a:ext cx="21945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два різні типи джерел: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новини й телеграм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2286000"/>
            <a:ext cx="2514600" cy="23774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27648" y="2468880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E60000"/>
                </a:solidFill>
                <a:latin typeface="Arial"/>
              </a:rPr>
              <a:t>Медійна увага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7648" y="3017520"/>
            <a:ext cx="21945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окремий сигнал: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14 публікацій від 14 видань за добу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78240" y="2286000"/>
            <a:ext cx="2514600" cy="23774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79408" y="2468880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E60000"/>
                </a:solidFill>
                <a:latin typeface="Arial"/>
              </a:rPr>
              <a:t>Дія з картки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79408" y="3017520"/>
            <a:ext cx="21945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«Технічній службі — підтвердити масштаб.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Комунікації — заява протягом години»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02920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Комунікаційний менеджер отримує тривогу з готовою карткою: що сталось, скільки, звідки і чи це взагалі наша аварія.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Текст заяви пише людина — система не вигадує офіційних формулювань.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17220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Arial"/>
              </a:rPr>
              <a:t>Останній блок — дослівний текст дії з системи, не переписаний для слайда.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200" b="1">
                <a:solidFill>
                  <a:srgbClr val="1A1A1A"/>
                </a:solidFill>
                <a:latin typeface="Arial"/>
              </a:rPr>
              <a:t>Кожна цифра відкривається до реального повідомлення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103120"/>
            <a:ext cx="5120640" cy="2834640"/>
          </a:xfrm>
          <a:prstGeom prst="rect">
            <a:avLst/>
          </a:prstGeom>
          <a:solidFill>
            <a:srgbClr val="F4F4F4"/>
          </a:solidFill>
          <a:ln w="12700">
            <a:solidFill>
              <a:srgbClr val="6B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3108960"/>
            <a:ext cx="457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6B6B6B"/>
                </a:solidFill>
                <a:latin typeface="Arial"/>
              </a:rPr>
              <a:t>СКРІН A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6B6B6B"/>
                </a:solidFill>
                <a:latin typeface="Arial"/>
              </a:rPr>
              <a:t>головна сторінка дашборда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074920"/>
            <a:ext cx="51206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Головна: підсумок періоду, головна причина,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тижневий графік із нормою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2103120"/>
            <a:ext cx="5120640" cy="2834640"/>
          </a:xfrm>
          <a:prstGeom prst="rect">
            <a:avLst/>
          </a:prstGeom>
          <a:solidFill>
            <a:srgbClr val="F4F4F4"/>
          </a:solidFill>
          <a:ln w="12700">
            <a:solidFill>
              <a:srgbClr val="6B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3108960"/>
            <a:ext cx="457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6B6B6B"/>
                </a:solidFill>
                <a:latin typeface="Arial"/>
              </a:rPr>
              <a:t>СКРІН B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6B6B6B"/>
                </a:solidFill>
                <a:latin typeface="Arial"/>
              </a:rPr>
              <a:t>стрічка повідомлень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5074920"/>
            <a:ext cx="51206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Стрічка: підписи «Скарга», «Похвала»,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«Змішано», «Новина»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17220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Arial"/>
              </a:rPr>
              <a:t>Система не називає скаргою все підряд: 127 матеріалів медіа відділено від голосу абонентів, 103 рекламні пости прибрано, 35 галузевих статей винесено окремо.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200" b="1">
                <a:solidFill>
                  <a:srgbClr val="1A1A1A"/>
                </a:solidFill>
                <a:latin typeface="Arial"/>
              </a:rPr>
              <a:t>84% скарг на звʼязок під час блекаутів —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200" b="1">
                <a:solidFill>
                  <a:srgbClr val="1A1A1A"/>
                </a:solidFill>
                <a:latin typeface="Arial"/>
              </a:rPr>
              <a:t>у листопаді–лютому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51760"/>
            <a:ext cx="3108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4600" b="1">
                <a:solidFill>
                  <a:srgbClr val="E60000"/>
                </a:solidFill>
                <a:latin typeface="Arial"/>
              </a:rPr>
              <a:t>141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29000"/>
            <a:ext cx="3108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Arial"/>
              </a:rPr>
              <a:t>скарга за рік про звʼязок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Arial"/>
              </a:rPr>
              <a:t>під час відключень світла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2651760"/>
            <a:ext cx="3108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4600" b="1">
                <a:solidFill>
                  <a:srgbClr val="1A1A1A"/>
                </a:solidFill>
                <a:latin typeface="Arial"/>
              </a:rPr>
              <a:t>118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3429000"/>
            <a:ext cx="3108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Arial"/>
              </a:rPr>
              <a:t>з них в опалювальний сезон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2651760"/>
            <a:ext cx="384048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Це не аварія мережі. Станція сідає на акумулятор, і абонент лишається без звʼязку.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/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Рішення — резервне живлення, а не ремонт мережі. І поставити його треба до жовтня: у січні це гроші на 40% сезону.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17220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Arial"/>
              </a:rPr>
              <a:t>Чесно: медіана «12 годин без звʼязку» порахована лише з 7 повідомлень, де тривалість названа прямо — це орієнтир, не вимірювання. Місце назване у 18 зі 141 скарги, тому карту інвестицій ми з цього не робимо.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200" b="1">
                <a:solidFill>
                  <a:srgbClr val="1A1A1A"/>
                </a:solidFill>
                <a:latin typeface="Arial"/>
              </a:rPr>
              <a:t>121 секунда від джерела до екрана.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200" b="1">
                <a:solidFill>
                  <a:srgbClr val="1A1A1A"/>
                </a:solidFill>
                <a:latin typeface="Arial"/>
              </a:rPr>
              <a:t>Одна тривога за рік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286000"/>
            <a:ext cx="3429000" cy="32918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46888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E60000"/>
                </a:solidFill>
                <a:latin typeface="Arial"/>
              </a:rPr>
              <a:t>Швидкість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017520"/>
            <a:ext cx="301752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збір 89 с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аналіз 1 с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детекція 31 с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експорт 0,04 с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/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Планувальник не налаштований: це час одного проходу, а не заявлений термін виявлення.</a:t>
            </a:r>
          </a:p>
        </p:txBody>
      </p:sp>
      <p:sp>
        <p:nvSpPr>
          <p:cNvPr id="7" name="Rectangle 6"/>
          <p:cNvSpPr/>
          <p:nvPr/>
        </p:nvSpPr>
        <p:spPr>
          <a:xfrm>
            <a:off x="4434840" y="2286000"/>
            <a:ext cx="3429000" cy="32918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246888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E60000"/>
                </a:solidFill>
                <a:latin typeface="Arial"/>
              </a:rPr>
              <a:t>Хибні спрацювання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3017520"/>
            <a:ext cx="301752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205 сигналів за рік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рівня «будити» — 1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/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Ціна помилки: двоє людей уночі й година перевірки.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11 вересня система підняла тривогу на дублях новин — ми це знайшли й виправили.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0" y="2286000"/>
            <a:ext cx="3429000" cy="32918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246888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E60000"/>
                </a:solidFill>
                <a:latin typeface="Arial"/>
              </a:rPr>
              <a:t>Чого не бачимо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3017520"/>
            <a:ext cx="301752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локація є у 4% скарг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/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множник мовчазних невідомий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/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одна криза за рік — мало для статистики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17220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Arial"/>
              </a:rPr>
              <a:t>Вигадана локація веде інженерів туди, де нічого не сталось, тому ми її не вгадуємо.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200" b="1">
                <a:solidFill>
                  <a:srgbClr val="1A1A1A"/>
                </a:solidFill>
                <a:latin typeface="Arial"/>
              </a:rPr>
              <a:t>Окупається, якщо допоможе втримати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200" b="1">
                <a:solidFill>
                  <a:srgbClr val="1A1A1A"/>
                </a:solidFill>
                <a:latin typeface="Arial"/>
              </a:rPr>
              <a:t>27 абонентів на місяць із 15 мільйонів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377440"/>
            <a:ext cx="5120640" cy="301752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606040"/>
            <a:ext cx="457200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1 848 ₴ на рік з абонента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ARPU 154 грн × 12 — звітність Vodafone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/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600 000 ₴ на рік — бюджет системи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сценарій, не вартість прототипу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/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600 000 ÷ 1 848 = 325 абонентів на рік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= 27 на місяць, або 0,002% бази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2377440"/>
            <a:ext cx="51206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260604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E60000"/>
                </a:solidFill>
                <a:latin typeface="Arial"/>
              </a:rPr>
              <a:t>Що міряє пілот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3154680"/>
            <a:ext cx="457200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· час від сигналу до рішення команди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· частка сигналів, які підтвердилися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· утримання після реакції: відтік у групі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  зі сигналом проти контрольної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/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Для запуску: планувальник, знеособлений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доступ до бази, правила ескалації.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17220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Arial"/>
              </a:rPr>
              <a:t>Скільки абонентів пішло мовчки, знає тільки Vodafone — це одна вивантажка з їхньої CRM. Саме вона перетворює нашу оцінку на їхню цифру.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200" b="1">
                <a:solidFill>
                  <a:srgbClr val="1A1A1A"/>
                </a:solidFill>
                <a:latin typeface="Arial"/>
              </a:rPr>
              <a:t>Додаток: що саме ми виміряли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60320"/>
            <a:ext cx="25603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3800" b="1">
                <a:solidFill>
                  <a:srgbClr val="E60000"/>
                </a:solidFill>
                <a:latin typeface="Arial"/>
              </a:rPr>
              <a:t>91,2%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337560"/>
            <a:ext cx="25603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Arial"/>
              </a:rPr>
              <a:t>точність тональності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Arial"/>
              </a:rPr>
              <a:t>на 2 215 відкладених прикладах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20440" y="2560320"/>
            <a:ext cx="25603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3800" b="1">
                <a:solidFill>
                  <a:srgbClr val="E60000"/>
                </a:solidFill>
                <a:latin typeface="Arial"/>
              </a:rPr>
              <a:t>86,5%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20440" y="3337560"/>
            <a:ext cx="25603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Arial"/>
              </a:rPr>
              <a:t>повнота по негативу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Arial"/>
              </a:rPr>
              <a:t>з десяти скарг ловимо девʼять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560320"/>
            <a:ext cx="25603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3800" b="1">
                <a:solidFill>
                  <a:srgbClr val="E60000"/>
                </a:solidFill>
                <a:latin typeface="Arial"/>
              </a:rPr>
              <a:t>81%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3337560"/>
            <a:ext cx="25603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Arial"/>
              </a:rPr>
              <a:t>точність причини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Arial"/>
              </a:rPr>
              <a:t>на 90 прикладах, розмічених руками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15400" y="2560320"/>
            <a:ext cx="25603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3800" b="1">
                <a:solidFill>
                  <a:srgbClr val="E60000"/>
                </a:solidFill>
                <a:latin typeface="Arial"/>
              </a:rPr>
              <a:t>~87%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15400" y="3337560"/>
            <a:ext cx="25603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Arial"/>
              </a:rPr>
              <a:t>точність локації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Arial"/>
              </a:rPr>
              <a:t>на 30 перевірених вручну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572000"/>
            <a:ext cx="106070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Ми не обіцяємо точність, якої не міряли. Оцінки релевантності й конструктивності — це зважені суми ознак, а не ймовірності: під ними немає навченої моделі з калібруванням, і ми не називаємо їх імовірністю.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Розмітка й код перевірки — у репозиторії. Порівняння операторів: Vodafone 75% негативу, Київстар 88%, lifecell 77% — це репутаційний сигнал у відкритих джерелах, а не вимір якості мережі.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17220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Arial"/>
              </a:rPr>
              <a:t>Джерела: vodafone.ua/news/business-invest/vodafone-invests · робоча версія: vodafone-reputation.vercel.app/dashboard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