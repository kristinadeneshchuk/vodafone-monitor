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0be1b1480d4564" /><Relationship Type="http://schemas.openxmlformats.org/officeDocument/2006/relationships/extended-properties" Target="/docProps/app.xml" Id="R681581ea927d4f8f" /><Relationship Type="http://schemas.openxmlformats.org/officeDocument/2006/relationships/officeDocument" Target="/ppt/presentation.xml" Id="R1e96eeb2a98f47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209c21fd6143d9"/>
  </p:sldMasterIdLst>
  <p:notesMasterIdLst>
    <p:notesMasterId xmlns:r="http://schemas.openxmlformats.org/officeDocument/2006/relationships" r:id="Rf454e4f0953345a3"/>
  </p:notesMasterIdLst>
  <p:sldIdLst>
    <p:sldId xmlns:r="http://schemas.openxmlformats.org/officeDocument/2006/relationships" id="256" r:id="Rfaebc81f6f964adb"/>
    <p:sldId xmlns:r="http://schemas.openxmlformats.org/officeDocument/2006/relationships" id="257" r:id="Rbb6270e6100f4aba"/>
    <p:sldId xmlns:r="http://schemas.openxmlformats.org/officeDocument/2006/relationships" id="258" r:id="Rd7285a2398944aa3"/>
    <p:sldId xmlns:r="http://schemas.openxmlformats.org/officeDocument/2006/relationships" id="259" r:id="R070c47187b544e84"/>
    <p:sldId xmlns:r="http://schemas.openxmlformats.org/officeDocument/2006/relationships" id="260" r:id="R0d48e25f80934705"/>
    <p:sldId xmlns:r="http://schemas.openxmlformats.org/officeDocument/2006/relationships" id="261" r:id="R4b9ef1adc1fd4dfb"/>
    <p:sldId xmlns:r="http://schemas.openxmlformats.org/officeDocument/2006/relationships" id="262" r:id="Ref0765173a3a48ed"/>
    <p:sldId xmlns:r="http://schemas.openxmlformats.org/officeDocument/2006/relationships" id="263" r:id="Rda9ab5fabee54f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d07935e8134d65" /><Relationship Type="http://schemas.openxmlformats.org/officeDocument/2006/relationships/slideMaster" Target="/ppt/slideMasters/slideMaster1.xml" Id="Re7209c21fd6143d9" /><Relationship Type="http://schemas.openxmlformats.org/officeDocument/2006/relationships/notesMaster" Target="/ppt/notesMasters/notesMaster1.xml" Id="Rf454e4f0953345a3" /><Relationship Type="http://schemas.openxmlformats.org/officeDocument/2006/relationships/presProps" Target="/ppt/presProps.xml" Id="Rc0fe86b2e17b4f77" /><Relationship Type="http://schemas.openxmlformats.org/officeDocument/2006/relationships/tableStyles" Target="/ppt/tableStyles.xml" Id="R0d39c220f48449cf" /><Relationship Type="http://schemas.openxmlformats.org/officeDocument/2006/relationships/slide" Target="/ppt/slides/slide1.xml" Id="Rfaebc81f6f964adb" /><Relationship Type="http://schemas.openxmlformats.org/officeDocument/2006/relationships/slide" Target="/ppt/slides/slide2.xml" Id="Rbb6270e6100f4aba" /><Relationship Type="http://schemas.openxmlformats.org/officeDocument/2006/relationships/slide" Target="/ppt/slides/slide3.xml" Id="Rd7285a2398944aa3" /><Relationship Type="http://schemas.openxmlformats.org/officeDocument/2006/relationships/slide" Target="/ppt/slides/slide4.xml" Id="R070c47187b544e84" /><Relationship Type="http://schemas.openxmlformats.org/officeDocument/2006/relationships/slide" Target="/ppt/slides/slide5.xml" Id="R0d48e25f80934705" /><Relationship Type="http://schemas.openxmlformats.org/officeDocument/2006/relationships/slide" Target="/ppt/slides/slide6.xml" Id="R4b9ef1adc1fd4dfb" /><Relationship Type="http://schemas.openxmlformats.org/officeDocument/2006/relationships/slide" Target="/ppt/slides/slide7.xml" Id="Ref0765173a3a48ed" /><Relationship Type="http://schemas.openxmlformats.org/officeDocument/2006/relationships/slide" Target="/ppt/slides/slide8.xml" Id="Rda9ab5fabee54f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fa64fda1aa41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ea0ad781dd4655" /><Relationship Type="http://schemas.openxmlformats.org/officeDocument/2006/relationships/notesMaster" Target="/ppt/notesMasters/notesMaster1.xml" Id="Raed109eb06da4d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307824b8104a9b" /><Relationship Type="http://schemas.openxmlformats.org/officeDocument/2006/relationships/notesMaster" Target="/ppt/notesMasters/notesMaster1.xml" Id="R471feb8ac60342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e7ab514912406c" /><Relationship Type="http://schemas.openxmlformats.org/officeDocument/2006/relationships/notesMaster" Target="/ppt/notesMasters/notesMaster1.xml" Id="R9b77cc54aa6f4a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e98e37823e4907" /><Relationship Type="http://schemas.openxmlformats.org/officeDocument/2006/relationships/notesMaster" Target="/ppt/notesMasters/notesMaster1.xml" Id="R7c9a1784b3234b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d46351dfa64b64" /><Relationship Type="http://schemas.openxmlformats.org/officeDocument/2006/relationships/notesMaster" Target="/ppt/notesMasters/notesMaster1.xml" Id="R061cfd2f6e134b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c61fdfee8b400b" /><Relationship Type="http://schemas.openxmlformats.org/officeDocument/2006/relationships/notesMaster" Target="/ppt/notesMasters/notesMaster1.xml" Id="R63c1877f91a148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d88f01d40f4277" /><Relationship Type="http://schemas.openxmlformats.org/officeDocument/2006/relationships/notesMaster" Target="/ppt/notesMasters/notesMaster1.xml" Id="Rfcc0751da5e243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9c49be94064f40" /><Relationship Type="http://schemas.openxmlformats.org/officeDocument/2006/relationships/notesMaster" Target="/ppt/notesMasters/notesMaster1.xml" Id="R86c2392f7e564a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Усі числа та висновки в наступних слайдах марковані як: [Ф] публічний факт, [В] вимірювання нашого MVP, [С] сценарій для перевірки на пілоті.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цитати: src/lib/data/real-data.json, Vodafone, review, 06.05.2026. Число 4: coverage scope, direct churn intent. Не стверджувати, що людина справді пішла або не зверталась у підтримку.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цифр: src/lib/data/real-summary.json. 251 — кількість публічних скарг у фокусі, не кількість постраждалих абонентів.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live: Аналіз періодів, 30-денний зріз, кнопка «Відкрити у фіді». Не називати 15 згадок скаргами.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один запис і перехід до оригіналу. Це ключовий доказ роботи на відкритих реальних матеріалах. Не показувати персональні дані авторів.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Склад: Google Play, App Store, Google News, 38 публічних Telegram-каналів; локальна модель тональності; SQLite; Next.js dashboard. 121 секунд — час одного ручного запуску, не SLA виявлення. Wake вимагає кількох умов, включно з різними типами джерел.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121 секунд — повний цикл одного запуску. Планувальник не налаштований. 205 сигналів, 1 wake. Трудовитрати хибного спрацювання — сценарій, а не виміряна вартість. Географія: 10/251, 4%.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Офіційне джерело ARPU: https://www.vodafone.ua/news/business-invest/vodafone-invests . 600 000 грн — сценарій для розрахунку порогу окупності, не фактичний бюджет MVP. Перевірка ефекту потребує знеособлених CRM даних і правил порівняння груп.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70c7c033d4d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03d9ba7faa44f3" /><Relationship Type="http://schemas.openxmlformats.org/officeDocument/2006/relationships/slideLayout" Target="/ppt/slideLayouts/slideLayout1.xml" Id="R5656e74d0d6842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56e74d0d6842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5522cd212421a" /><Relationship Type="http://schemas.openxmlformats.org/officeDocument/2006/relationships/notesSlide" Target="/ppt/notesSlides/notesSlide1.xml" Id="Rc0ed7d0d00f641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cb0e64903443d" /><Relationship Type="http://schemas.openxmlformats.org/officeDocument/2006/relationships/notesSlide" Target="/ppt/notesSlides/notesSlide2.xml" Id="R50c29f47beb747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5e4b0eaf24f47" /><Relationship Type="http://schemas.openxmlformats.org/officeDocument/2006/relationships/image" Target="/ppt/media/image.png" Id="Rbda7b088d7854357" /><Relationship Type="http://schemas.openxmlformats.org/officeDocument/2006/relationships/notesSlide" Target="/ppt/notesSlides/notesSlide3.xml" Id="Rcbc66270a0854f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4fb9aa01f4510" /><Relationship Type="http://schemas.openxmlformats.org/officeDocument/2006/relationships/image" Target="/ppt/media/image2.png" Id="R2d5ee6421f384fa5" /><Relationship Type="http://schemas.openxmlformats.org/officeDocument/2006/relationships/notesSlide" Target="/ppt/notesSlides/notesSlide4.xml" Id="R02266202249a49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79186b27f4671" /><Relationship Type="http://schemas.openxmlformats.org/officeDocument/2006/relationships/image" Target="/ppt/media/image3.png" Id="Rbb21b0a7dd47453c" /><Relationship Type="http://schemas.openxmlformats.org/officeDocument/2006/relationships/notesSlide" Target="/ppt/notesSlides/notesSlide5.xml" Id="Rb0560e144f8649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d670717204d79" /><Relationship Type="http://schemas.openxmlformats.org/officeDocument/2006/relationships/notesSlide" Target="/ppt/notesSlides/notesSlide6.xml" Id="Ra06379bd546b42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20dcf7c71446c" /><Relationship Type="http://schemas.openxmlformats.org/officeDocument/2006/relationships/notesSlide" Target="/ppt/notesSlides/notesSlide7.xml" Id="R45eeefd4b0fc49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9e219e788429d" /><Relationship Type="http://schemas.openxmlformats.org/officeDocument/2006/relationships/notesSlide" Target="/ppt/notesSlides/notesSlide8.xml" Id="Rac21aa762ef84b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E5E76-E6EA-4910-AA4D-DD55E7CF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VODAFONE: 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6FF08-77F2-42F0-9AFA-DCFB08D0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Бізнес-кейс раннього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виявлення репутаційних ризиків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1F997-8E00-4013-A40A-25DB3C2D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Робочий MVP на відкритих даних України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F682A-F420-4ED7-932A-7D69D8C8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5E092-FF3E-4F13-9206-04514AC0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20 627 відкритих згадок за рік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E2B99-ACF9-4791-8784-97A83D12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Репутаційний сигнал, придатний для перевірки та дії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A1AC1-8586-46B1-A2B6-7ACBC9CB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UA · вересень 2026</a:t>
            </a:r>
          </a:p>
        </p:txBody>
      </p:sp>
    </p:spTree>
    <p:extLst>
      <p:ext uri="{BB962C8B-B14F-4D97-AF65-F5344CB8AC3E}">
        <p14:creationId xmlns:p14="http://schemas.microsoft.com/office/powerpoint/2010/main" val="5692812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A4656-67BC-4B69-B769-4B1AF200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AI-АНАЛІТИКА РЕПУТАЦІЇ ТА КРИЗ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CCAF8-8F86-4F6E-9C55-CBB61F2C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7715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Репутаційний сигнал</a:t>
            </a:r>
          </a:p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до того, як клієнт вирішує піти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655B5-033C-4ED8-B08B-93E20254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7341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B26F2-DF7A-4A12-99E8-142F3757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57525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«…якщо не вирішите мою проблему,</a:t>
            </a:r>
          </a:p>
          <a:p xmlns:a="http://schemas.openxmlformats.org/drawingml/2006/main">
            <a:pPr algn="l">
              <a:def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 перейду на lifecell»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9FBAC-9B11-4904-9234-86A95B8F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Реальний відгук Vodafone у Google Play, 06.05.2026. Дані автора не зберігаємо.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22F80-72B1-4134-A6E9-C1C9EA44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1762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3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3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5CBA0-7E85-4AE1-AB45-AE06FF66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147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прямі сигнали наміру</a:t>
            </a:r>
          </a:p>
          <a:p xmlns:a="http://schemas.openxmlformats.org/drawingml/2006/main">
            <a:pPr algn="ctr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змінити оператора у фокусі</a:t>
            </a:r>
          </a:p>
          <a:p xmlns:a="http://schemas.openxmlformats.org/drawingml/2006/main">
            <a:pPr algn="ctr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про зв’язок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E48C1-DB26-4E72-8090-5EA8A583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Завдання MVP: перетворити відкриту згадку на перевірюваний сигнал і конкретну дію команди.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D678D-9099-4413-B70D-F61ACB09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Наша база відкритих джерел, 01.09.2025–19.09.2026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175B9-3754-48D3-9DC5-204F4FF0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7685202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E836C7-CCF9-4C79-855A-364F1C62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ФОКУС ДАНИХ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2A0F9-89A9-4D16-8E16-A34B17E3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шуму до 251 скарги, з якими можна діяти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F705F-1F8F-43E3-82E5-D3C64D42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917A4-30AB-4850-800A-4BAB887C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3DB01-7B6A-4945-BF58-5C47D32A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BDA30-E98A-42F9-BB25-28CE6161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20 627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E6B51-C934-4E2E-85A4-44B99C99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240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відкритих згадок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198E9-B91B-461B-BF71-81C731A4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11480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81917-2149-4A4F-B375-69A5F07B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9 610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B3458-5515-4F89-8AF1-E7964339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098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 про Vodafone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77968-2A0B-444C-A019-41132C63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75285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13FCF-D26A-4106-8B21-D4457FC9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C0999-3897-4FE2-9C6E-E5FCD15E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956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Vodafone за всіма темами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BD8E8-3E25-4142-BA12-CAD049B3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39090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9EBAD-E5F6-439B-A030-A8F84FBF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B8A28-833F-4EBA-BB05-BB253651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814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скарга про зв’язок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0D33B-6658-4EE0-A5F8-285376EE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333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Фокус — якість зв’язку: для неї команда може перевірити мережу, покриття або резервне живлення.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7b088d7854357"/>
          <a:srcRect xmlns:a="http://schemas.openxmlformats.org/drawingml/2006/main" l="24083" t="0" r="240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714500"/>
            <a:ext cx="5905500" cy="3981450"/>
          </a:xfrm>
          <a:prstGeom xmlns:a="http://schemas.openxmlformats.org/drawingml/2006/main" prst="roundRect">
            <a:avLst>
              <a:gd name="adj" fmla="val 430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E4CBA-685B-4B59-89B1-748F0A5A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real-summary.json; скрін MVP, 19.09.2026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A3223-9A0A-4993-ACF3-1D773BDC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0533848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6E262-80FE-4A84-8FB9-4DB4C4F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РОБОЧИЙ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FE814-7F70-4569-A3C6-5BBE723F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30-денний зріз: команда бачить динаміку, а не абстрактну тональність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9AF2E-DF63-448B-944E-80580DDF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44C39-B78A-46F0-BF7A-006E8000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ee6421f384fa5"/>
          <a:srcRect xmlns:a="http://schemas.openxmlformats.org/drawingml/2006/main" l="75" t="0" r="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7239000" cy="471487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34800-0AEA-4811-B1BE-8DD2CAFB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F73B7-8027-4FAF-BA15-9718D348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DE350-B673-4D21-A3D2-04DF7F0F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 30 днів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B67F4-2A93-4AC2-9812-D4D229F5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315F2-3BB2-4398-8D3B-448D58E2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8B8FF-F784-4666-B37D-ECB295C7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670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 цьому зрізі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0AFCE-8C7C-4F85-ACBE-C061DC66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Демо на захисті: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Обрати період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Побачити зміну обсягу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Відкрити стрічку первинних повідомлень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C2A34-5ADE-41F9-B0AA-F5E8E900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21.08–19.09.2026. 15 згадок, 7 скарг.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1D0FC-1233-4AF7-B13F-D5B6C4FF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3174054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BFF11-CCA0-4919-9A38-C60511D6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ДОКАЗОВІСТЬ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5FFF3-976D-46D4-AD68-53D4A3FC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Кожна цифра в дашборді відкривається до першоджерела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6DB87-3893-4188-B48F-68F56985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7A66F-B8FE-4A31-B661-A7913FF2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1b0a7dd47453c"/>
          <a:srcRect xmlns:a="http://schemas.openxmlformats.org/drawingml/2006/main" l="0" t="3016" r="0" b="30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7715250" cy="471487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F5655-8196-47C0-B232-E6B50346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бачить аналітик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679DE-1C99-49FF-8882-FF463770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Категорія скарги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Релевантність до зв’язку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Оцінка ризику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Посилання на оригінал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23907-0E7D-4D5B-A2E6-F0BFB5C1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2238375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43E28-7391-46C4-9449-C580446C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Результат придатний</a:t>
            </a:r>
          </a:p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для перевірки й дії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C4E05-B336-4EAD-A54B-D83A543B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стрічка повідомлень, 19.09.2026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043C8-6BE3-4A80-AAAA-83EA6244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7395242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EB29C8-EECE-4D88-8D27-21C4BF32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СИСТЕМА І ДІЯ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E4EEF-5DD2-4024-B91B-8AE76C3F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запис проходить спільний конвеєр і дає різні дії командам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2BEC7-11DB-417E-A6AE-FEA2B8EB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FF740-44A9-4843-AEFC-A9E0E5D3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CB171-1740-4AF7-B085-7694C676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5C903-4A19-4661-9602-076E9F4C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Джерела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E6FF5-9817-43F2-B9AB-8BF3C460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Play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App Store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News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38 Telegram-каналів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8691F-FD09-47EC-A983-632BEAFA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34C84-400D-4C26-8C86-8698F47C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90F0A-384D-4742-9EC3-62500E74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AF2EF-1AD6-484A-8662-B907A210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тональність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ризик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B4447-D498-42D8-BB3C-D36F0A42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C7E65-B3B9-4E32-B6B6-5FC198A2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F262C-F95C-4B83-ACB6-4535BA10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Сховище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F247E-88A1-4D76-8DE5-ADFAA99F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дедуплікація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історія сигналів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89847-14DC-44E3-A508-78F4289C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B7E53-C34E-47ED-B07D-091BE5CA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E08EC-8CE9-4B62-9A4F-74E08122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Дашборд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085831-BA7A-4667-89E6-F7D537BB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період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стрічка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першоджерело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алерт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67145-267D-4C1A-BF20-E0C97B73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Сценарій комунікаційного менеджера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EC158-4A12-4803-B795-E9F1F9C2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Перевіряє сигнал і першоджерела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Узгоджує масштаб із технічною командою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Передає підтримці фактичне формулювання проблеми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9F530-6B0C-4BF8-B16F-8E4F4C97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576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17979D-2C2B-46AA-BB74-8BE4FC37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38625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7AD045-D6C2-4652-93DD-C4B08382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67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повний цикл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джерел до дашборда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1B15D-9ED6-4C36-87B2-7BCC682D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53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205 сигналів за рік; 1 рівня «будити»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EAFD98-917B-45AD-9081-C6930BA9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PROJECT_LOG.md: архітектура, 121 с, 205 сигналів / 1 wake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E88AD6-D7FA-40BE-87F8-14C6EA4A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7943226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80AC6-5F69-42BF-AC90-24E58D57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РЕАЛІСТИЧНІСТЬ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430F1-550D-4CF4-A92E-C6D619A8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Швидкість виміряна. Обмеження названі прямо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33B4A-2F62-43B5-8365-A2CC6A20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CBD2E-71A9-4EE7-AF13-992812BC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A7DF9-944E-45DE-AF36-14768D55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D7974-61E4-4322-916D-E9D8FBB0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F8C3B-EF6B-4646-A7D9-1140D992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повний цикл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джерел до дашборда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5DC16-1315-476A-BB0E-18414925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Збір 89 с · аналіз 1 с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детекція 31 с · експорт 0,04 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63709-8689-42A6-B1D0-315B59A6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3EABA-91DE-4FD2-BCEC-B3A21E0F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AA98B-F161-4744-98EB-13A997A4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сигналів за рік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рівня «будити»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6959C-719F-4486-84F8-A3180CC5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Ціна хибної тривоги [С]: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двоє людей × 1 година перевірки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BE1FF-957B-4328-BB99-65EC5E4B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E3E28-A510-4727-82FA-C91B35F8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2BC29-26BE-41E6-A406-9AD4ACB4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мають названу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локацію: 10 із 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28FB3-2F21-48B1-8B02-DFC838F5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957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Тому карта задає напрям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для перевірки, не рішення про інвестиції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EE665-0616-47E7-94CF-9064D72B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Планувальник ще не налаштований: 121 секунда — тривалість одного циклу, а не обіцяний термін виявлення.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79F85-1835-4DD6-A91E-065A8D4E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PROJECT_LOG.md; [С] трудовитрати команди при хибній тривозі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7D7B2-6FDD-4AED-B8AA-FA13735B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6103731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07DA5-5E0E-492D-97CE-1DE4ACDF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БІЗНЕС-ЦІННІСТЬ ПІЛОТА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9460C-3E92-4FC4-B3AB-C0AB5FC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Окупність починається з 27 утриманих абонентів на місяць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612B7-6E77-4BA7-95D4-A772D8C7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A82C4-B76C-4679-B020-0A413924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482E9-9F60-4940-8DA0-AB477A63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FDC69-6565-4E7F-AAF3-A0EB308D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ARPU на місяць [Ф]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5857C-9986-4F4B-923D-64F21D05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01A4D-AA62-4FF8-848D-43D91CCD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1 848 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6D478-F524-48A4-9E17-72CAE98D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дохід з одного абонента на рік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2F764-6877-416E-ABD7-74F070F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2961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4E39D-3E65-40A8-A43B-E9B9D05D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600 000 грн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19DD9-137D-4506-AD3A-48F76AEE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річний бюджет пілота [С]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293DA-9D03-43EF-BCDE-BA3A97C7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52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÷ 1 848 грн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5D59F-B837-46CE-9E9E-0C3A2184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718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325 / рік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C0822B-7BC3-419A-8544-488D2722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576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27 / місяць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1BD3C-36FE-4DB3-AEDE-7450AE44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Як перевірити сценарій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8FCE6-9F95-4995-9DAB-689F061D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714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Зіставити реакцію на сигнал із відтоком у CRM та порівнюваною контрольною групою.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574C44-492A-431C-8F34-85432988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24275"/>
            <a:ext cx="2714625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5B472-7DD6-4E48-8C2A-CFC9BCF8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Чесні межі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8A0F4-E785-48A0-9F59-BBD8BE5F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71975"/>
            <a:ext cx="2238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Планувальник не налаштований</a:t>
            </a:r>
          </a:p>
          <a:p xmlns:a="http://schemas.openxmlformats.org/drawingml/2006/main">
            <a:pPr algn="l">
              <a:def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Локація: 10 із 251 скарг (4%)</a:t>
            </a:r>
          </a:p>
          <a:p xmlns:a="http://schemas.openxmlformats.org/drawingml/2006/main">
            <a:pPr algn="l">
              <a:def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4 сигнали не дорівнюють 4 втраченим клієнтам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14B5A-11D2-4AEA-AF23-4B39A8F3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[Ф] Vodafone Україна, І півріччя 2026: ARPU 154 грн. [С] Бюджет 600 тис. грн/рік.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81746A-B67A-4174-9F48-75F33BE4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349545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2026-09-19T19:02:11.5610000Z</dcterms:created>
  <dcterms:modified xsi:type="dcterms:W3CDTF">2026-09-19T19:02:11.5610000Z</dcterms:modified>
</coreProperties>
</file>