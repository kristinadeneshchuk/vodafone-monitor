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84e30dc6f845b0" /><Relationship Type="http://schemas.openxmlformats.org/officeDocument/2006/relationships/extended-properties" Target="/docProps/app.xml" Id="Rc74ac38f57c24d9c" /><Relationship Type="http://schemas.openxmlformats.org/officeDocument/2006/relationships/officeDocument" Target="/ppt/presentation.xml" Id="R03df7e01680441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e769cff9af41bb"/>
  </p:sldMasterIdLst>
  <p:notesMasterIdLst>
    <p:notesMasterId xmlns:r="http://schemas.openxmlformats.org/officeDocument/2006/relationships" r:id="R589663924361469a"/>
  </p:notesMasterIdLst>
  <p:sldIdLst>
    <p:sldId xmlns:r="http://schemas.openxmlformats.org/officeDocument/2006/relationships" id="256" r:id="Raa245ab3bcf1489e"/>
    <p:sldId xmlns:r="http://schemas.openxmlformats.org/officeDocument/2006/relationships" id="257" r:id="R5d4fa2e66ed84394"/>
    <p:sldId xmlns:r="http://schemas.openxmlformats.org/officeDocument/2006/relationships" id="258" r:id="R03ec96818c884729"/>
    <p:sldId xmlns:r="http://schemas.openxmlformats.org/officeDocument/2006/relationships" id="259" r:id="R7a0de7b62faa4429"/>
    <p:sldId xmlns:r="http://schemas.openxmlformats.org/officeDocument/2006/relationships" id="260" r:id="R4ee89214989d4f0e"/>
    <p:sldId xmlns:r="http://schemas.openxmlformats.org/officeDocument/2006/relationships" id="261" r:id="Re9caa54534234e7c"/>
    <p:sldId xmlns:r="http://schemas.openxmlformats.org/officeDocument/2006/relationships" id="262" r:id="Rc4e9b35d5a70481d"/>
    <p:sldId xmlns:r="http://schemas.openxmlformats.org/officeDocument/2006/relationships" id="263" r:id="Ree2ceaa96870452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4d7b321d7942d8" /><Relationship Type="http://schemas.openxmlformats.org/officeDocument/2006/relationships/slideMaster" Target="/ppt/slideMasters/slideMaster1.xml" Id="R4ae769cff9af41bb" /><Relationship Type="http://schemas.openxmlformats.org/officeDocument/2006/relationships/notesMaster" Target="/ppt/notesMasters/notesMaster1.xml" Id="R589663924361469a" /><Relationship Type="http://schemas.openxmlformats.org/officeDocument/2006/relationships/presProps" Target="/ppt/presProps.xml" Id="Rc6e727054eb4407e" /><Relationship Type="http://schemas.openxmlformats.org/officeDocument/2006/relationships/tableStyles" Target="/ppt/tableStyles.xml" Id="R93c321d6fccf475b" /><Relationship Type="http://schemas.openxmlformats.org/officeDocument/2006/relationships/slide" Target="/ppt/slides/slide1.xml" Id="Raa245ab3bcf1489e" /><Relationship Type="http://schemas.openxmlformats.org/officeDocument/2006/relationships/slide" Target="/ppt/slides/slide2.xml" Id="R5d4fa2e66ed84394" /><Relationship Type="http://schemas.openxmlformats.org/officeDocument/2006/relationships/slide" Target="/ppt/slides/slide3.xml" Id="R03ec96818c884729" /><Relationship Type="http://schemas.openxmlformats.org/officeDocument/2006/relationships/slide" Target="/ppt/slides/slide4.xml" Id="R7a0de7b62faa4429" /><Relationship Type="http://schemas.openxmlformats.org/officeDocument/2006/relationships/slide" Target="/ppt/slides/slide5.xml" Id="R4ee89214989d4f0e" /><Relationship Type="http://schemas.openxmlformats.org/officeDocument/2006/relationships/slide" Target="/ppt/slides/slide6.xml" Id="Re9caa54534234e7c" /><Relationship Type="http://schemas.openxmlformats.org/officeDocument/2006/relationships/slide" Target="/ppt/slides/slide7.xml" Id="Rc4e9b35d5a70481d" /><Relationship Type="http://schemas.openxmlformats.org/officeDocument/2006/relationships/slide" Target="/ppt/slides/slide8.xml" Id="Ree2ceaa9687045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238a41274249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7e10bf97b546a3" /><Relationship Type="http://schemas.openxmlformats.org/officeDocument/2006/relationships/notesMaster" Target="/ppt/notesMasters/notesMaster1.xml" Id="R4c8e7f3eccbf4b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6e9a67797548c6" /><Relationship Type="http://schemas.openxmlformats.org/officeDocument/2006/relationships/notesMaster" Target="/ppt/notesMasters/notesMaster1.xml" Id="R71ba4606ccfa49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fefc9164594ead" /><Relationship Type="http://schemas.openxmlformats.org/officeDocument/2006/relationships/notesMaster" Target="/ppt/notesMasters/notesMaster1.xml" Id="Rd023933f94f54b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0a1fd0b13048fc" /><Relationship Type="http://schemas.openxmlformats.org/officeDocument/2006/relationships/notesMaster" Target="/ppt/notesMasters/notesMaster1.xml" Id="R2ad9fc013ac84d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ad28178c6a4ce6" /><Relationship Type="http://schemas.openxmlformats.org/officeDocument/2006/relationships/notesMaster" Target="/ppt/notesMasters/notesMaster1.xml" Id="Rd29c9c14354047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3945fbd53241b2" /><Relationship Type="http://schemas.openxmlformats.org/officeDocument/2006/relationships/notesMaster" Target="/ppt/notesMasters/notesMaster1.xml" Id="R3c430c3a758645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9b533a1ee7445b" /><Relationship Type="http://schemas.openxmlformats.org/officeDocument/2006/relationships/notesMaster" Target="/ppt/notesMasters/notesMaster1.xml" Id="Rb10f6b14c36049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b0350b2039647a1" /><Relationship Type="http://schemas.openxmlformats.org/officeDocument/2006/relationships/notesMaster" Target="/ppt/notesMasters/notesMaster1.xml" Id="R2daa03ce673c40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Усі числа та висновки в наступних слайдах марковані як: [Ф] публічний факт, [В] вимірювання нашого MVP, [С] сценарій для перевірки на пілоті.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Джерело цитати: src/lib/data/real-data.json, Vodafone, Google Play review, 06.05.2026. Цитата анонімізована. Пояснити просто: система збирає відкриті повідомлення, допомагає відокремити тему й причину, після чого людина в команді перевіряє першоджерело та вирішує наступну дію.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Джерело цифр: src/lib/data/real-summary.json. 251 — публічні скарги про зв’язок у вибірці. Категорії застосунок, тарифи й списання коштів наведені як інші теми, які не є фокусом MVP. Це дані згадок, не унікальних клієнтів.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Показати live: Аналіз періодів, 30-денний зріз, кнопка «Відкрити у фіді». Не називати 15 згадок скаргами.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Показати один запис і перехід до оригіналу. Це ключовий доказ роботи на відкритих реальних матеріалах. Не показувати персональні дані авторів.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Склад: Google Play, App Store, Google News, 38 публічних Telegram-каналів; локальна модель тональності; SQLite; Next.js dashboard. Перед будь-якою ескалацією команда перевіряє першоджерело та масштаб. Швидкість одного циклу і статистика алертів винесені на наступний слайд.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121 секунд — повний цикл одного запуску. Планувальник не налаштований. 205 сигналів, 1 wake. Трудовитрати хибного спрацювання — сценарій, а не виміряна вартість. Географія: 10/251, 4%.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Офіційне джерело ARPU: https://www.vodafone.ua/news/business-invest/vodafone-invests . Розрахунок: 600 000 ÷ (154×12) ≈325 абонентів, кожен утриманий повні 12 місяців. Це поріг за річною виручкою до маржі та операційних витрат, не прибуткова окупність і не підтверджений ефект системи. Бюджет — сценарій. Пілот перевіряє причинний ефект через знеособлену CRM та контрольну групу.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80da41c0c84f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b6a64c21ef422d" /><Relationship Type="http://schemas.openxmlformats.org/officeDocument/2006/relationships/slideLayout" Target="/ppt/slideLayouts/slideLayout1.xml" Id="Rd8884acd59dc47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884acd59dc47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4987b703204857" /><Relationship Type="http://schemas.openxmlformats.org/officeDocument/2006/relationships/notesSlide" Target="/ppt/notesSlides/notesSlide1.xml" Id="R883204f7db8946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2dbcddfb364fdc" /><Relationship Type="http://schemas.openxmlformats.org/officeDocument/2006/relationships/notesSlide" Target="/ppt/notesSlides/notesSlide2.xml" Id="Rd155ebd931f64c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99073a54ec49af" /><Relationship Type="http://schemas.openxmlformats.org/officeDocument/2006/relationships/notesSlide" Target="/ppt/notesSlides/notesSlide3.xml" Id="R46b93c6849494b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9ae422893e486e" /><Relationship Type="http://schemas.openxmlformats.org/officeDocument/2006/relationships/image" Target="/ppt/media/image.png" Id="R9a7cdfa1dbd445cf" /><Relationship Type="http://schemas.openxmlformats.org/officeDocument/2006/relationships/notesSlide" Target="/ppt/notesSlides/notesSlide4.xml" Id="R3e24035f1f3e49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75f8fcc3ec4f93" /><Relationship Type="http://schemas.openxmlformats.org/officeDocument/2006/relationships/image" Target="/ppt/media/image2.png" Id="R4aa2105e8a1240f1" /><Relationship Type="http://schemas.openxmlformats.org/officeDocument/2006/relationships/notesSlide" Target="/ppt/notesSlides/notesSlide5.xml" Id="R5f0897d80e7947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d44003449641a1" /><Relationship Type="http://schemas.openxmlformats.org/officeDocument/2006/relationships/notesSlide" Target="/ppt/notesSlides/notesSlide6.xml" Id="R744f878217794f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6ea60fe75d4205" /><Relationship Type="http://schemas.openxmlformats.org/officeDocument/2006/relationships/notesSlide" Target="/ppt/notesSlides/notesSlide7.xml" Id="R858ca6f3096140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ea2c54d0b04a11" /><Relationship Type="http://schemas.openxmlformats.org/officeDocument/2006/relationships/notesSlide" Target="/ppt/notesSlides/notesSlide8.xml" Id="R6a1ec276962b40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6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0AE6FA-1504-4D27-BDF7-E3EEFD7B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"/>
            <a:ext cx="904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VODAFONE: AI REPUTATION &amp; CRISIS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508AE5-5089-46CA-B1D9-B582C23A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8763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Бізнес-кейс раннього</a:t>
            </a:r>
          </a:p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виявлення репутаційних ризиків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46A090-3858-4013-B169-B5ECB6DF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81375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Робочий MVP на відкритих даних України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BE4539-DD6F-4578-B906-A9D178CE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1D85D5-22E7-4AC3-85D1-BCF18A85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20 627 відкритих згадок за рік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11E1F3-F640-4F7D-ACC7-41C7BCD8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91125"/>
            <a:ext cx="742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Репутаційний сигнал, придатний для перевірки та дії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679B4F-B249-4CBC-A3C1-5E56ADE1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103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Vodafone UA · вересень 2026</a:t>
            </a:r>
          </a:p>
        </p:txBody>
      </p:sp>
    </p:spTree>
    <p:extLst>
      <p:ext uri="{BB962C8B-B14F-4D97-AF65-F5344CB8AC3E}">
        <p14:creationId xmlns:p14="http://schemas.microsoft.com/office/powerpoint/2010/main" val="16387954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0723B4-5CF9-430B-96C5-C10E879F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ЩО РОБИТЬ СИСТЕМА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F0E523-967E-4C79-95BF-89179CF0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Вона знаходить важливі згадки й допомагає команді вирішити, що перевірити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CA120A-31EB-4C8D-A579-09388364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7362CD-A2A5-4215-848F-D503C790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46C5D8-BF15-495D-81CB-EBCB7D9D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838700" cy="3124200"/>
          </a:xfrm>
          <a:prstGeom xmlns:a="http://schemas.openxmlformats.org/drawingml/2006/main" prst="roundRect">
            <a:avLst>
              <a:gd name="adj" fmla="val 5488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1E9EDF-C85B-46C5-B446-8D944BCA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764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Реальний відгук Vodafone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334D6-D6E1-47E9-B8B7-EF9DF707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4171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«…якщо не вирішите мою проблему,</a:t>
            </a:r>
          </a:p>
          <a:p xmlns:a="http://schemas.openxmlformats.org/drawingml/2006/main">
            <a:pPr algn="l">
              <a:def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я перейду на lifecell»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D55373-345D-48FF-A956-4AFB4A04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Google Play · 06.05.2026</a:t>
            </a:r>
          </a:p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Дані автора не збираємо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398A87-E579-4A8E-A53E-D950AEFF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478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Як працює MVP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7A80E5-BF23-4D45-AA43-CC834A46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812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DF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C7B780-ADE4-4D64-9222-C88FD03D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4003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70567B-8706-436B-B36D-66670661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9077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Збирає відкриті згадки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964789-62B6-48E4-B248-3867EF66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289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DF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DE47A4-9891-4D8C-BAC4-A338CACD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480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3D3B22-ABE9-4152-9A2C-BC7549AC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3847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Визначає тему й можливу причину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DBA41F-875F-46C1-8A92-7C328201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766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DF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B582E8-39DD-4F0B-8E2D-E9BE34F9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957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66661C-CDFB-40AD-93AE-2CFF7242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8617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Показує сигнал і посилання на джерело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30D25C-D171-44D7-9AC4-473351CF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3243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FE564D-3850-4F4A-A1A6-9E532F34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3434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244D54-D65C-49FD-9AD7-51705FF2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3387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Команда перевіряє та вирішує, що робити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723C4F-6735-45BB-B0CA-975138F9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23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Приклад сигналу, не доказ відтоку: відгук висловлює намір змінити оператора.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9F0FB0-B388-4ADF-BC77-C58FFCAE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Реальний публічний відгук у базі MVP, 06.05.2026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166630-C9CC-43FC-A481-C1D91A17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20552767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7433A8-206C-4AF9-8BC2-F32B3C97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ЧОМУ МИ ЗВУЗИЛИ ФОКУС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57AC2E-32C7-474C-95C0-FA9DF3CD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Із 1 130 скарг взяли 251 про зв’язок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020F2E-F3BC-425D-A604-8E69E39C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C504BB-522F-489F-BBD0-FA5D040F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3B25BC-75D5-426B-8D7D-B41E5B85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43075"/>
            <a:ext cx="65151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C7C768-8185-44BA-A504-A9FA2748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47850"/>
            <a:ext cx="1485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20 627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E2D2D-9C12-476B-97F6-43D11EC1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866900"/>
            <a:ext cx="400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відкритих згадок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20B071-EB39-458C-9518-F4B0E042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600075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50D4CB-EE05-4CA8-9E9C-4AED8970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43175"/>
            <a:ext cx="1485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9 610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1F4AE1-7F48-4402-9CC9-FD22AB1F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62225"/>
            <a:ext cx="400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згадок про Vodafone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4CA19B-568B-4948-8F36-2BE1049A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33725"/>
            <a:ext cx="54864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D31B46-4ABC-4D01-AE79-10F2AFE6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38500"/>
            <a:ext cx="1485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1 130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F30814-9460-41B0-B5E9-935A1F7F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257550"/>
            <a:ext cx="400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 Vodafone за всіма темами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289B7C-3DEB-4CDF-8E12-4FCB8044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497205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9525">
            <a:solidFill>
              <a:srgbClr val="F1B6B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090329-C4CF-4F53-ACDF-AF7742E6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33825"/>
            <a:ext cx="1485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251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AB6C5C-5C79-4AA4-86AC-7F9AAD6D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952875"/>
            <a:ext cx="400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скарга про зв’язок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E55454-FA2B-4676-9371-9DF17F85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47850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Чому саме зв’язок?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6898DA-47BD-419E-A120-D0512844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24100"/>
            <a:ext cx="295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Це тема, для якої команда може перевірити мережу, покриття або резервне живлення.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4B8870-8ED5-4CAD-BF63-219682FB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43325"/>
            <a:ext cx="2952750" cy="1133475"/>
          </a:xfrm>
          <a:prstGeom xmlns:a="http://schemas.openxmlformats.org/drawingml/2006/main" prst="roundRect">
            <a:avLst>
              <a:gd name="adj" fmla="val 1344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DE9C9F-13F4-4EC7-AA2C-3D3A2D13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338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Інші скарги теж є в базі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733F9A-9C75-4AE7-A163-9BF2EB48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86250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Застосунок 241 · тарифи 164</a:t>
            </a:r>
          </a:p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Списання коштів 59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88F678-704F-48EF-A196-B6728AC0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05425"/>
            <a:ext cx="10001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251 — кількість публічних скарг у вибірці, не кількість постраждалих абонентів.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DCFA65-8B18-47F5-98DB-21FF6E22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real-summary.json · період 01.09.2025–19.09.2026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D8B895-D5F6-45E3-9A5B-F3FC8883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8554632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3ACCA4-D8EB-4B0D-9DBB-EFCE8765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РОБОЧИЙ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BF4770-E572-4E4C-AB0F-BB7883EF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30-денний зріз: команда бачить динаміку, а не абстрактну тональність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71BD52-5656-4629-B6E0-DC7F9E3C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41CA80-73DA-4851-BB5F-4A52BC49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7cdfa1dbd445cf"/>
          <a:srcRect xmlns:a="http://schemas.openxmlformats.org/drawingml/2006/main" l="64" t="0" r="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790700"/>
            <a:ext cx="7239000" cy="4000500"/>
          </a:xfrm>
          <a:prstGeom xmlns:a="http://schemas.openxmlformats.org/drawingml/2006/main" prst="roundRect">
            <a:avLst>
              <a:gd name="adj" fmla="val 428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C2C172-0658-4186-AABB-DC5B44EF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52625"/>
            <a:ext cx="2905125" cy="923925"/>
          </a:xfrm>
          <a:prstGeom xmlns:a="http://schemas.openxmlformats.org/drawingml/2006/main" prst="roundRect">
            <a:avLst>
              <a:gd name="adj" fmla="val 1649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87B500-D28F-4489-9A8A-F7A74387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14550"/>
            <a:ext cx="90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335A86-5AA5-49CB-A94B-8610CD29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114550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згадок</a:t>
            </a:r>
          </a:p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за 30 днів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D6B0D3-AC99-4D94-8236-4C21F279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05150"/>
            <a:ext cx="2905125" cy="923925"/>
          </a:xfrm>
          <a:prstGeom xmlns:a="http://schemas.openxmlformats.org/drawingml/2006/main" prst="roundRect">
            <a:avLst>
              <a:gd name="adj" fmla="val 1649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0D7D4C-42BC-402A-AA05-69B907C1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67075"/>
            <a:ext cx="90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200AD6-6D31-4B0A-980C-3019E4D2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267075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</a:t>
            </a:r>
          </a:p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у цьому зрізі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3769AC-4453-4003-9719-4A53A812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524375"/>
            <a:ext cx="2905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Демо на захисті:</a:t>
            </a:r>
          </a:p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1. Обрати період</a:t>
            </a:r>
          </a:p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2. Побачити зміну обсягу</a:t>
            </a:r>
          </a:p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3. Відкрити стрічку первинних повідомлень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FBF99F-FA4A-45B2-B4EB-92BF5A1B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Скрін MVP: 21.08–19.09.2026. 15 згадок, 7 скарг.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8B32D3-8222-48AC-8C13-A120077B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130968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A29F11-7746-44B8-B0B1-EEFE9EC6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ДОКАЗОВІСТЬ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D96AC-924A-4014-816E-3FA812E2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Кожна цифра в дашборді відкривається до першоджерела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180043-C4BE-4079-BEDB-0D1F00B5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E11CF2-8305-4A38-BAFB-C9BF2A1F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a2105e8a1240f1"/>
          <a:srcRect xmlns:a="http://schemas.openxmlformats.org/drawingml/2006/main" l="76" t="0" r="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52625"/>
            <a:ext cx="7715250" cy="3514725"/>
          </a:xfrm>
          <a:prstGeom xmlns:a="http://schemas.openxmlformats.org/drawingml/2006/main" prst="roundRect">
            <a:avLst>
              <a:gd name="adj" fmla="val 487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5BCB60-F53E-4F0F-A1E5-9F014F7B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431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Що бачить аналітик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FAC14B-E68F-43D4-9921-C333C3C7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95550"/>
            <a:ext cx="233362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Категорія скарги</a:t>
            </a:r>
          </a:p>
          <a:p xmlns:a="http://schemas.openxmlformats.org/drawingml/2006/main">
            <a:pPr algn="l">
              <a:def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Релевантність до зв’язку</a:t>
            </a:r>
          </a:p>
          <a:p xmlns:a="http://schemas.openxmlformats.org/drawingml/2006/main">
            <a:pPr algn="l">
              <a:def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Оцінка ризику</a:t>
            </a:r>
          </a:p>
          <a:p xmlns:a="http://schemas.openxmlformats.org/drawingml/2006/main">
            <a:pPr algn="l">
              <a:def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Посилання на оригінал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FCC5FB-E126-4574-AC18-4DD7B753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10075"/>
            <a:ext cx="2238375" cy="981075"/>
          </a:xfrm>
          <a:prstGeom xmlns:a="http://schemas.openxmlformats.org/drawingml/2006/main" prst="roundRect">
            <a:avLst>
              <a:gd name="adj" fmla="val 13592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4D3445-F526-4D99-85F2-F47D1842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648200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rPr>
              <a:t>Результат придатний</a:t>
            </a:r>
          </a:p>
          <a:p xmlns:a="http://schemas.openxmlformats.org/drawingml/2006/main">
            <a:pPr algn="ctr">
              <a:def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rPr>
              <a:t>для перевірки й дії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C42F15-3F20-4ABB-A664-A6D76805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Скрін MVP: стрічка повідомлень, 19.09.2026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5FC149-1A61-49E0-9096-42A3EA60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4986635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2043DE-52EF-45D1-90BB-82EF093F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СИСТЕМА І ДІЯ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CED6DA-3910-4E48-93B6-F1C73950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Один запис проходить спільний конвеєр і дає різні дії командам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CB2DCE-5C51-4006-97F6-AA2340B2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D1FE65-C4FB-4B74-B7DD-7320056F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0BB34D-B354-42D2-989D-2E906D31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FEB29-0392-4F7F-AAFF-7F08E8D4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Джерела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3FFAE3-F657-4C0E-8DC9-D3EBEB6E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Google Play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App Store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Google News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38 Telegram-каналів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979503-5D72-4A1E-87AB-C8B230A1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003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FDCCD9-829C-48F9-91CA-3A9910D7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9525">
            <a:solidFill>
              <a:srgbClr val="F1B6B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E6FD48-96BB-4B6C-A1A7-ECA22FE9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AI-аналіз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A50AFA-028C-46D3-B04D-A9DAA9B1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тональність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причина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локація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ризик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FFC7F9-ECF5-4708-ABB0-59220701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003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8D0DA9-5103-4BBA-A7F4-ED9C15D7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06F014-8E16-433D-BC58-98623E72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Сховище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CCDF3F-82A9-4CF9-AB73-B5287F7B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SQLite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дедуплікація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історія сигналів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F780F4-4B61-484C-9126-D0459315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003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BFF4F9-7377-4FCD-89BB-2F1E64C1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FA3C48-041A-4456-AF19-1D8CD0D0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Дашборд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DFAEF3-0BD4-4A1E-AE72-6AB74D72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період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стрічка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першоджерело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алерт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911864-32CF-4ACC-9A0C-3E447D1F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Сценарій комунікаційного менеджера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F348B2-E230-4849-ABC3-D4F0DBC1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590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1. Перевіряє сигнал і першоджерела</a:t>
            </a:r>
          </a:p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2. Узгоджує масштаб із технічною командою</a:t>
            </a:r>
          </a:p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3. Передає підтримці фактичне формулювання проблеми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0DD9F8-EDE9-4AAF-BB86-B4CEC298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19550"/>
            <a:ext cx="3857625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18269B-9C8D-4BE7-994D-9D7F8576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2100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Перед дією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DD79C1-17B8-4705-A6AC-1F4005A3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629150"/>
            <a:ext cx="3143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Людина перевіряє першоджерело та масштаб сигналу, тоді визначає відповідь команд.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56F59F-CAC1-4157-B570-3F2768B6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PROJECT_LOG.md: джерела, аналіз, сховище та правила детекції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ECF9B9-E140-4992-B61F-F153D4C9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9342774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F758DC-E9AC-4962-9C64-D2FE97CF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РЕАЛІСТИЧНІСТЬ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922ADC-F20B-4BCC-AC69-3D7455F1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Швидкість виміряна. Обмеження названі прямо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771B16-2B48-417B-842F-AAE9D530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73331B-C233-40AF-96D9-69030E73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387AB4-D980-4535-974E-D2317EDB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286125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9D4EE5-1109-468C-A7C4-42B5BA2C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145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121 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B0AB73-ED06-4DF8-8371-FB72015F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57500"/>
            <a:ext cx="2381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один повний цикл</a:t>
            </a:r>
          </a:p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від джерел до дашборда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4C8981-512D-450A-926D-48394505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957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Збір 89 с · аналіз 1 с</a:t>
            </a:r>
          </a:p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детекція 31 с · експорт 0,04 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97FDD5-DBD2-4D90-90D6-346FF4E3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09750"/>
            <a:ext cx="3286125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AE7196-38C8-4578-8B85-92A18672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1145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205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FDED1F-BE9D-4010-B83E-F2D4B577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857500"/>
            <a:ext cx="2381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сигналів за рік</a:t>
            </a:r>
          </a:p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 рівня «будити»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4486DF-419A-4C60-BFBB-9ACA1D1A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6957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Ціна хибної тривоги [С]:</a:t>
            </a:r>
          </a:p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двоє людей × 1 година перевірки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E2F391-0AE4-4375-8C7B-99847388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09750"/>
            <a:ext cx="3286125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87345B-D873-4A25-A9F6-E132639D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1145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4%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9C5AFE-B752-4343-9302-F4C25D7E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857500"/>
            <a:ext cx="2571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 мають названу</a:t>
            </a:r>
          </a:p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локацію: 10 із 251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883641-BEE2-4A4E-B528-E108D0F7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6957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Тому карта задає напрям</a:t>
            </a:r>
          </a:p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для перевірки, не рішення про інвестиції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DF20FC-CA48-4D5C-9460-C5165728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Планувальник не налаштований. Час циклу не є гарантованою затримкою виявлення.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5D10C9-2F90-4EAB-9269-0EE40707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PROJECT_LOG.md; [С] трудовитрати команди при хибній тривозі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A4F066-3472-4C89-873A-F8FBF5EB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18704738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E91DF4-D521-4C23-9E8C-9E274F93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БІЗНЕС-ЦІННІСТЬ ПІЛОТА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630CC4-DA2C-425E-A309-C9C1AA7D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Сценарний поріг за виручкою: 325 абонентів на повний рік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92AF81-9F4F-46C7-A7DB-E7112D85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3D81AD-F45C-49DA-8B1F-63AA3993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FE4553-7142-4C62-9E0C-A1359233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857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154 грн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B4E955-DAE8-4FC9-BB36-91FCE8E7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ARPU на місяць [Ф]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9803EB-E054-4DF0-AAE2-D3393F84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71675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× 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3EE3FE-7296-466D-A986-27374F7B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09750"/>
            <a:ext cx="3143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1 848 грн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DC1384-B92D-4EFF-8468-208C3614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1935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дохід з одного абонента на рік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80D188-EBA0-466C-941A-8C481084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7296150" cy="1381125"/>
          </a:xfrm>
          <a:prstGeom xmlns:a="http://schemas.openxmlformats.org/drawingml/2006/main" prst="roundRect">
            <a:avLst>
              <a:gd name="adj" fmla="val 1241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0859FA-0A72-4297-B841-1F776FDA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600 000 грн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A1DAC9-0CB1-4A20-A845-A1835A54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385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річний бюджет пілота [С]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44A565-F82D-4104-A666-E35005DA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5528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÷ 1 848 грн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970B8F-6DDB-4D71-9FF7-1D876E62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371850"/>
            <a:ext cx="223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325 абонентів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D8B920-BDB1-4B24-A3ED-A20B4E5C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857625"/>
            <a:ext cx="2305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якщо кожен лишається на 12 міс.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D1B7A8-5FCD-404B-8D87-C6E6E9A0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09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Як перевірити сценарій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035709-9165-406C-A1E5-7F0397C1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05050"/>
            <a:ext cx="257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Пілот вимірює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0F5828-89E6-4DAF-9C82-CA91CF62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714625"/>
            <a:ext cx="2714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час до рішення команди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частку підтверджених сигналів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відтік проти контрольної групи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A07BB7-465F-4BD6-B10E-369DDC14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857625"/>
            <a:ext cx="2714625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25156D-0724-4774-9BC6-A554CC78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48125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rPr>
              <a:t>Важливо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9FA577-9B30-40EB-97F7-A19D3B77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29125"/>
            <a:ext cx="2238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Це поріг за виручкою, не прибутком. Він не враховує маржу та операційні витрати.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AFA3EF-F53A-427E-8091-F6889603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[Ф] Vodafone Україна, І півріччя 2026: ARPU 154 грн. [С] Бюджет 600 тис. грн/рік.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4DB09D-E73A-482F-8FBC-8B06AFCA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13107853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2026-09-19T19:13:05.2470000Z</dcterms:created>
  <dcterms:modified xsi:type="dcterms:W3CDTF">2026-09-19T19:13:05.2470000Z</dcterms:modified>
</coreProperties>
</file>