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65bf8d38c64c34" /><Relationship Type="http://schemas.openxmlformats.org/officeDocument/2006/relationships/extended-properties" Target="/docProps/app.xml" Id="R72e26f7282394813" /><Relationship Type="http://schemas.openxmlformats.org/officeDocument/2006/relationships/officeDocument" Target="/ppt/presentation.xml" Id="Rf33c28a598cd4d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7e44b2f0c4f51"/>
  </p:sldMasterIdLst>
  <p:notesMasterIdLst>
    <p:notesMasterId xmlns:r="http://schemas.openxmlformats.org/officeDocument/2006/relationships" r:id="R0d4a4570d5b64ce3"/>
  </p:notesMasterIdLst>
  <p:sldIdLst>
    <p:sldId xmlns:r="http://schemas.openxmlformats.org/officeDocument/2006/relationships" id="256" r:id="R11fac1bdb4564f60"/>
    <p:sldId xmlns:r="http://schemas.openxmlformats.org/officeDocument/2006/relationships" id="257" r:id="R6b24be26a95a4a99"/>
    <p:sldId xmlns:r="http://schemas.openxmlformats.org/officeDocument/2006/relationships" id="258" r:id="R15f9332e178740c7"/>
    <p:sldId xmlns:r="http://schemas.openxmlformats.org/officeDocument/2006/relationships" id="259" r:id="R83808f51c77a4f26"/>
    <p:sldId xmlns:r="http://schemas.openxmlformats.org/officeDocument/2006/relationships" id="260" r:id="R925fcde015454050"/>
    <p:sldId xmlns:r="http://schemas.openxmlformats.org/officeDocument/2006/relationships" id="261" r:id="Re9d4d59e8ad84215"/>
    <p:sldId xmlns:r="http://schemas.openxmlformats.org/officeDocument/2006/relationships" id="262" r:id="R3396397e0fd14333"/>
    <p:sldId xmlns:r="http://schemas.openxmlformats.org/officeDocument/2006/relationships" id="263" r:id="R574840777f4540d4"/>
    <p:sldId xmlns:r="http://schemas.openxmlformats.org/officeDocument/2006/relationships" id="264" r:id="R066f3e9979974c7c"/>
    <p:sldId xmlns:r="http://schemas.openxmlformats.org/officeDocument/2006/relationships" id="265" r:id="Rb2f9da9dc7504c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525941d9a841e9" /><Relationship Type="http://schemas.openxmlformats.org/officeDocument/2006/relationships/slideMaster" Target="/ppt/slideMasters/slideMaster1.xml" Id="Rcd77e44b2f0c4f51" /><Relationship Type="http://schemas.openxmlformats.org/officeDocument/2006/relationships/notesMaster" Target="/ppt/notesMasters/notesMaster1.xml" Id="R0d4a4570d5b64ce3" /><Relationship Type="http://schemas.openxmlformats.org/officeDocument/2006/relationships/presProps" Target="/ppt/presProps.xml" Id="R7e1c34d13c0242a8" /><Relationship Type="http://schemas.openxmlformats.org/officeDocument/2006/relationships/tableStyles" Target="/ppt/tableStyles.xml" Id="R9df6975652f440f8" /><Relationship Type="http://schemas.openxmlformats.org/officeDocument/2006/relationships/slide" Target="/ppt/slides/slide1.xml" Id="R11fac1bdb4564f60" /><Relationship Type="http://schemas.openxmlformats.org/officeDocument/2006/relationships/slide" Target="/ppt/slides/slide2.xml" Id="R6b24be26a95a4a99" /><Relationship Type="http://schemas.openxmlformats.org/officeDocument/2006/relationships/slide" Target="/ppt/slides/slide3.xml" Id="R15f9332e178740c7" /><Relationship Type="http://schemas.openxmlformats.org/officeDocument/2006/relationships/slide" Target="/ppt/slides/slide4.xml" Id="R83808f51c77a4f26" /><Relationship Type="http://schemas.openxmlformats.org/officeDocument/2006/relationships/slide" Target="/ppt/slides/slide5.xml" Id="R925fcde015454050" /><Relationship Type="http://schemas.openxmlformats.org/officeDocument/2006/relationships/slide" Target="/ppt/slides/slide6.xml" Id="Re9d4d59e8ad84215" /><Relationship Type="http://schemas.openxmlformats.org/officeDocument/2006/relationships/slide" Target="/ppt/slides/slide7.xml" Id="R3396397e0fd14333" /><Relationship Type="http://schemas.openxmlformats.org/officeDocument/2006/relationships/slide" Target="/ppt/slides/slide8.xml" Id="R574840777f4540d4" /><Relationship Type="http://schemas.openxmlformats.org/officeDocument/2006/relationships/slide" Target="/ppt/slides/slide9.xml" Id="R066f3e9979974c7c" /><Relationship Type="http://schemas.openxmlformats.org/officeDocument/2006/relationships/slide" Target="/ppt/slides/slide10.xml" Id="Rb2f9da9dc7504c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146a33ebc34e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72c033e0c6497c" /><Relationship Type="http://schemas.openxmlformats.org/officeDocument/2006/relationships/notesMaster" Target="/ppt/notesMasters/notesMaster1.xml" Id="Rab29ad3dd88742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f33d8e52d4d5b" /><Relationship Type="http://schemas.openxmlformats.org/officeDocument/2006/relationships/notesMaster" Target="/ppt/notesMasters/notesMaster1.xml" Id="R18239cf4e0b246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c90e0439ee4bcd" /><Relationship Type="http://schemas.openxmlformats.org/officeDocument/2006/relationships/notesMaster" Target="/ppt/notesMasters/notesMaster1.xml" Id="Re404f05e47c543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4cd0ba481840bc" /><Relationship Type="http://schemas.openxmlformats.org/officeDocument/2006/relationships/notesMaster" Target="/ppt/notesMasters/notesMaster1.xml" Id="R372e6eb8cb9a4b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0f6a4d21f44d45" /><Relationship Type="http://schemas.openxmlformats.org/officeDocument/2006/relationships/notesMaster" Target="/ppt/notesMasters/notesMaster1.xml" Id="R6690617e77b545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a96a24fc224736" /><Relationship Type="http://schemas.openxmlformats.org/officeDocument/2006/relationships/notesMaster" Target="/ppt/notesMasters/notesMaster1.xml" Id="R4943706b485b49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4c8c3b211b42dd" /><Relationship Type="http://schemas.openxmlformats.org/officeDocument/2006/relationships/notesMaster" Target="/ppt/notesMasters/notesMaster1.xml" Id="R17b643a7d40243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c6cc7cef6b4282" /><Relationship Type="http://schemas.openxmlformats.org/officeDocument/2006/relationships/notesMaster" Target="/ppt/notesMasters/notesMaster1.xml" Id="Rca1533b1b8c04f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17525e5e2b4b05" /><Relationship Type="http://schemas.openxmlformats.org/officeDocument/2006/relationships/notesMaster" Target="/ppt/notesMasters/notesMaster1.xml" Id="R26fc349dfbae41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7514b55b0141cd" /><Relationship Type="http://schemas.openxmlformats.org/officeDocument/2006/relationships/notesMaster" Target="/ppt/notesMasters/notesMaster1.xml" Id="R4c620979c3ac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запис 2772, Vodafone, Google Play review, 06.05.2026. Наведений фрагмент дослівний; персональні дані автора не збираються. ARPU 154 грн/міс — публічний показник Vodafone: https://www.vodafone.ua/news/business-invest/vodafone-invests. 1 848 грн — лише річна середня виручка на абонента, не оцінка ймовірності відтоку й не доведена втрата саме цього клієнта.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Перевірка на локальній БД mentions.db за правилами blackout.py станом на 19.09.2026: негативні/змішані записи, контекст або причина blackout, тип причини з набору coverage/internet/calls/outage/blackout, виключені реклама та market-wide. Для Vodafone знайдено 52 записи, з них 44 за листопад–лютий (44/52 = 84,6%, округлено 85%). Джерела: 47 відгуків і 5 новин. Дати Vodafone-вибірки: 23.09.2025–27.05.2026. Це повідомлення у вибірці, а не унікальні абоненти або підтверджені інциденти. Висновок обмежений: сезонність виправдовує перевірку готовності; дані не доводять потребу в капітальних інвестиціях і не визначають конкретні об'єкти.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час одного ручного запуску від початку збору до дашборда. Планувальник не налаштований, тому регулярну затримку виявлення не вимірювали. Детектор сформував 205 сигналів за рік, з них один досяг рівня wake. PROJECT_LOG.md фіксує випадок 11.09: 15 записів виявилися 7 публікаціями, зібраними повторно через редиректи Google News; після виправлення дедуплікації тривога зникла. Дві людини × година — сценарна оцінка витрат на перевірку хибного сигналу, не грошова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QR-код із матеріалу користувача веде на https://vodafone-reputation.vercel.app/dashboard . Перевірено зчитуванням коду та HTTP-відповіддю 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036460c254f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1d6a8402845f1" /><Relationship Type="http://schemas.openxmlformats.org/officeDocument/2006/relationships/slideLayout" Target="/ppt/slideLayouts/slideLayout1.xml" Id="R4ee3ac57bece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e3ac57bece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b7e394fa447cc" /><Relationship Type="http://schemas.openxmlformats.org/officeDocument/2006/relationships/notesSlide" Target="/ppt/notesSlides/notesSlide1.xml" Id="R744b18817b824c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07e7656584e19" /><Relationship Type="http://schemas.openxmlformats.org/officeDocument/2006/relationships/notesSlide" Target="/ppt/notesSlides/notesSlide2.xml" Id="R118876b657e941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8e90afcb744a2" /><Relationship Type="http://schemas.openxmlformats.org/officeDocument/2006/relationships/notesSlide" Target="/ppt/notesSlides/notesSlide3.xml" Id="Rce3e2fbf058944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b4a44d0644bd3" /><Relationship Type="http://schemas.openxmlformats.org/officeDocument/2006/relationships/notesSlide" Target="/ppt/notesSlides/notesSlide4.xml" Id="Re5d331978a9548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385cbfc884233" /><Relationship Type="http://schemas.openxmlformats.org/officeDocument/2006/relationships/image" Target="/ppt/media/image.png" Id="R65f0b5cd464a4416" /><Relationship Type="http://schemas.openxmlformats.org/officeDocument/2006/relationships/notesSlide" Target="/ppt/notesSlides/notesSlide5.xml" Id="R3d78ddae63df4e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4f5b9a23443dc" /><Relationship Type="http://schemas.openxmlformats.org/officeDocument/2006/relationships/image" Target="/ppt/media/image2.png" Id="Rc0b435f28aba4432" /><Relationship Type="http://schemas.openxmlformats.org/officeDocument/2006/relationships/notesSlide" Target="/ppt/notesSlides/notesSlide6.xml" Id="R1448b58eaecc44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fc1e65f294398" /><Relationship Type="http://schemas.openxmlformats.org/officeDocument/2006/relationships/notesSlide" Target="/ppt/notesSlides/notesSlide7.xml" Id="Re6855960635649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7af170af4405a" /><Relationship Type="http://schemas.openxmlformats.org/officeDocument/2006/relationships/notesSlide" Target="/ppt/notesSlides/notesSlide8.xml" Id="R07306813684b43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88ea1a5a3406c" /><Relationship Type="http://schemas.openxmlformats.org/officeDocument/2006/relationships/notesSlide" Target="/ppt/notesSlides/notesSlide9.xml" Id="R2475b0c653eb4d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57131dd26419d" /><Relationship Type="http://schemas.openxmlformats.org/officeDocument/2006/relationships/image" Target="/ppt/media/image.jpeg" Id="Ra430374329ed46fd" /><Relationship Type="http://schemas.openxmlformats.org/officeDocument/2006/relationships/notesSlide" Target="/ppt/notesSlides/notesSlide10.xml" Id="R6201f5fb26df42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C5709-361C-463F-985B-8B515E4D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8F4ED-BC28-4FBB-9F6B-4D2CF8AB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2FE52-B772-4255-A48C-74B9BC09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A8F43-4B16-4E37-9C20-0DE4FD14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3CE86-E72F-4EBF-B37C-9A792055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7B51B-438F-408E-8322-BD92E80F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32FDD-2628-4FB1-A7DC-B44D39AF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57910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65700-76FB-4EFE-9F5E-FD64A34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496EE-DFDB-43D7-8E30-0E8352D5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D7B67-5F3A-4DD7-AB88-8E443C30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584AF-B330-4B83-A5F1-101FC71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F9A36-23C1-4B71-87D2-110CDDB0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0E6A4-D8AE-4CFD-822D-07484EDA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10278-72B7-49BC-819A-EE151983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«...вирішіть мою проблему а ні</a:t>
            </a:r>
          </a:p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лайф сел»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A0EB0-C850-4361-9357-DD1FCEC9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C2D8C-2BC8-466D-9842-361D3CEE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EACCF-9C58-4BFB-AC04-12E207AE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9641A-DB77-46F8-A984-A8802368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6EA0C-D04E-4579-82FB-EF416CA9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CBC89-CC49-421F-AAA6-AF7EE578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ECB7A-055B-4916-9317-D00D4780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347CC-FFCF-4DEF-B5FA-04D4E476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A24E7-7F9E-4155-8F5A-9D653CF4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76970-FE2F-40DD-A72C-6F868EA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1A80D-4958-4904-BA94-C020EA4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8E346-6D6C-48A2-94C9-4E3765D9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B2FD3-222F-4407-BF35-4AE32B87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A29B1-8712-4F60-83F5-DEB77598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9D6AA-430C-43BF-B08A-CCC5CAE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грн/міс × 12 = 1 848 грн середньої річної виручки на абонента [Ф]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7CDCB-35CC-45F7-AEF6-B9A8AEE9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бізнес-орієнтир, а не доведена втрата саме цього автора. Відгук — сигнал, не доказ відтоку.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5A90E-5661-444C-B3EB-E4088E45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6D842-8B56-4E40-B788-447FCF9A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636661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69B503-9C9B-44D0-BF4B-2FE76A67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92322-937C-4279-9DDF-BC0A56DA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із 1 130 скарг стосується зв’язку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12535-3DF0-4F17-A48C-820E3E8B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AB427-1680-41FA-88D3-5E59140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916A1-12FF-4EEA-B951-DC3EEF76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FEA55-1D2C-4E5A-BBFC-A4B42B78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B4A77-539A-417F-9D19-E829FD00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8E7D2-DD79-4668-BF6D-01775760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B3FDC-81FF-44D3-A503-1C7F053D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8F783-A316-4C91-AF80-C06EC21D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7E579-88C9-4E04-9970-23AD011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F72F9-8776-4051-A176-D614BA80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7FE41-5E19-4678-922E-6A1DFBA5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D0F17-E42F-43E4-BF8E-299E2270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41EEC-C175-46CF-8359-9B78336A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AD118-F853-4022-AA22-8EBAC699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34CBB-B515-4990-9EA6-D87706BE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C6911-A1B3-4473-9AE7-61BA6995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Ці повідомлення допомагають визначити, що перевірити: покриття, мережу чи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4029E-E94F-4060-AB7C-368B8300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18816-4F58-4D55-9CEA-0E7797AA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7D6D7-5270-4BB9-AD5D-055BF048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47A48-C15E-4F8A-8E5B-84BD1DBF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732B6-1155-47AA-958D-03BF097A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0EC1D-EEF7-47BF-A953-BCD7AFE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802559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EA617-228A-4A66-9402-2E51FAF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СЕЗОННИЙ СИГНАЛ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C817C-7C24-4448-A3A3-327FF9E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Згадки про Vodafone частіше з’являлись узимку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7FEDD-AADC-4BDF-8DE7-8E0E9DDC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5F9E2-EC0A-4D2D-A413-0BE4DFA9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B11F6-5D8D-4930-A579-1EBCCCBD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95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44 із 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8B7CF-BEA3-41EF-8B41-6458DAD3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85%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8F25E-F25D-444A-AC38-B9893C0F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33700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записів про Vodafone у вибірці</a:t>
            </a:r>
          </a:p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датовані листопадом–лютим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752B1-FE86-49F1-AABC-CDD9B2EB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07559-33F7-4E7B-B464-08A0AB53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це означає для бізнесу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728C6-98E2-4417-BB3E-147C40EF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Сезонний сигнал для перевірки готовності резервного живлення до зими. Сам по собі він не визначає потрібний бюджет чи місця для інвестицій.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7FA05-3358-4AB5-9452-8AD74D20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52 записи: 47 відгуків і 5 новин. Це не кількість унікальних клієнтів чи підтверджених інцидентів.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7B0A2-2A38-4386-9397-5C32CC38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mentions.db + blackout.py · Vodafone · 23.09.2025–27.05.2026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8ECE0-E4DC-4771-B917-1DEB396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91126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04DC1-3AB4-4158-8ED9-1322C7FA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E189-142F-4A33-B84A-7EEE02E4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2D249-C20C-41D4-AA52-1E7D3093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AA1FC-2FAA-4113-B1A2-9B9D37EE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0b5cd464a4416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931A3-F421-42B9-B1FC-039531B2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820E6-EBC8-4430-A1F0-FC36832A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14FF4-036E-405A-806B-6E66BF06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A429E-D3AF-4604-8127-EB964CDC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85D3C-A237-46ED-BF37-CEC10187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E331D-A731-49E0-A3F7-C570BADB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73E1E-83CA-465E-B416-2BD8DF5E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0C99D-9E08-4675-84DC-ADCB14AC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DB6B7-C9A3-4477-9366-A83D1C0B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444418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1DD0F-C721-4CFE-AB80-AFE8C31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A0C77-3BB6-4DC3-8C61-D295CC41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66330-81A2-42A9-B7BD-BCBC33FE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A7C48-4E6C-4F21-B8D1-428F221A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435f28aba4432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71525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FA660-7808-44B2-99F7-A670766D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609B7-FB6F-48AD-9692-F9388F3B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845E0-0A97-4F85-9BF4-585E55B6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20DF1-B19D-4C24-98A2-BCB70878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F6431-BAA2-4195-AA4B-E6F8AA5B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177DA-28DF-4D11-9E10-5872ABB3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287252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EBB41-B5F4-43C1-9C56-7E317C6B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FC6F1-6821-44C9-9214-EBEABA70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FA57E-8E56-4B1E-90DF-0645E4CA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0F495-7E5E-4E23-8CE6-D6661A90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3E662-B4E5-4E67-864D-60F7BDEE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1BB7A-F37E-4ED8-B5A0-A3AB0664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D07F3-9995-4F58-A6A3-2E02B286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D759C-B5B5-442B-8B3D-5EFB23D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05E21-4805-49E7-A679-C79C4320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BE34B-ED6A-4759-8888-DF6137C5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5B63E-5415-4726-BF39-BEFE23EC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6C162-AF19-4791-A9CC-BC8671AC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62247-2E1B-4AC4-97AE-7B5B36F1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9FC1B-A41D-4EE4-AACB-39B1DD04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F9E27-9C1D-4476-A208-E9F24538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36D32-30FC-4069-9C8E-2C0E20FF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DD0DF-15FE-44DD-97D6-5806B249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29872-9BC4-48AA-A6E9-C3A935B7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9A944-C261-404E-BF7E-5003DE68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AEAE3-BC56-4BA7-8A33-A2508EF8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A8A3D-E02D-4862-9E48-0300DAE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B182C-82A2-466E-8DC6-0ADD6BA9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C99BB-F695-479C-A072-AE18828D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дією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2018B-A18C-4C8F-8B10-1B53413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Людина перевіряє першоджерело та масштаб сигналу, тоді визначає відповідь команд.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4E23C-E5D5-4B56-8A0C-19B7825F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джерела, аналіз, сховище та правила детекції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E2F07-7167-4192-9D43-96006C74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407740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4B884-D90D-424C-AC52-AD1EC28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ШВИДКІСТЬ ТА ОБМЕЖЕННЯ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8C05F-4696-4D2F-865F-8088B2BD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саме виміряли у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7E348-53B2-48FD-B5E6-F7FBFA34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C1EA2-05A5-4B6D-A61E-CBAF9F35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CAB82-DC5F-4AE4-B7DC-D0D87B9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A9C60-1433-4282-98C7-3623764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DE3D5-7EA7-4DF1-983C-3E0839F5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запуск вручну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збору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5077C-76C4-421B-972F-CE096ED1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пошук сплеску 31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ADA4D-6DA1-4385-A645-2B503D7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95434-E601-4BAF-8DCA-6A852B76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9A83E-1E84-4B0B-A060-52306011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досяг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FA9F2-0F59-477B-85A6-6B9EC4C5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6235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11.09 [В]: 15 записів → 7 публікацій; дублікати через редиректи Google News. Дедуплікацію виправили.</a:t>
            </a:r>
          </a:p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Хибна тривога [С]: 2 людини × 1 год.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44761-6A80-4395-9B79-4DACF4E0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DA832-0383-431A-93F1-2F11245A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74B35-39E1-4E41-B6F0-1A3A3B1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9307F-5952-4A3F-A23D-38AF7F96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Цього достатньо для перевірки,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але не для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48491-D4DB-4BE6-B074-75BFCB7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Автоматичний розклад запусків не налаштований, тому регулярну затримку виявлення ми ще не виміряли.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99488-76D1-4509-B9AD-50E80C91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57341-9B71-4848-9CB8-EF47C44A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002995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AD516-7AF3-45F5-B5A5-BBC3B9EF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78510-1D84-4436-99D8-5A1EA216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означає бюджетний сценарій 600 000 грн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0F0E4-7B84-49F9-AF51-F1647C6D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C0EE4-4785-4E82-9A25-36ED95B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6B70B-F452-40F9-A6E2-7190C78D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72C48-D120-435C-B8A8-9D3F969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44F39-1899-4AD1-BAB9-C31C5B09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FB68E-B508-4926-B0E2-2EBEB82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53391-E72C-4A23-9EF0-491833B0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C2E40-5B07-43D0-8150-BA05EA6B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9EC90-FF71-4910-8E21-3DF8C7B8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4643C-DDC5-4B4C-97E9-72078F48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15A84-413B-44DB-8937-5861A6DA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A89BE-65F7-47C3-995B-F6B19495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6232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≈325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24675-9A52-4CCB-ABBA-E2EA0E8E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38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абонентів, утриманих на повні 12 місяців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01E4E-56D5-4BC0-806A-A405B983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71177-EFCD-4BD0-9BAB-E44404F2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9FB3A-3C12-4AFA-A58D-84426691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54250-FCF6-47DF-8E92-F6E55680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A5A28-FBFF-4432-9D56-8B50B0C2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7414E-4577-4316-9FA0-77198901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CCF35-E97D-4CD7-8AD4-A1857784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89107-4B1F-4873-9371-A674386D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848071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A7FE8-15A5-40D3-B4FB-AF0D92D9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· REPUTATIONX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D681A-0387-44EA-AA6F-73281208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Дякую!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825D8-1845-42A1-A6EC-F19796E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Запитання?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BB7F6-AF1E-4A2E-98FF-EF29252B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Демо системи — за QR-кодом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0374329ed46fd"/>
          <a:stretch xmlns:a="http://schemas.openxmlformats.org/drawingml/2006/main"/>
        </p:blipFill>
        <p:spPr>
          <a:xfrm xmlns:a="http://schemas.openxmlformats.org/drawingml/2006/main">
            <a:off x="7239000" y="1381125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DD7A2-DDE0-4AF1-84DF-2B018A66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67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vodafone-reputation.vercel.app/dashboard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B18A5-4698-4DEC-8CA5-1CA10E1E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3215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2026-09-19T19:30:58.0740000Z</dcterms:created>
  <dcterms:modified xsi:type="dcterms:W3CDTF">2026-09-19T19:30:58.0740000Z</dcterms:modified>
</coreProperties>
</file>