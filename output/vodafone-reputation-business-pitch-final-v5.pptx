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3e98270aa84372" /><Relationship Type="http://schemas.openxmlformats.org/officeDocument/2006/relationships/extended-properties" Target="/docProps/app.xml" Id="Re6a2c8ecf3fb47df" /><Relationship Type="http://schemas.openxmlformats.org/officeDocument/2006/relationships/officeDocument" Target="/ppt/presentation.xml" Id="Rba056aa01c7f4c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5e743d2d834f09"/>
  </p:sldMasterIdLst>
  <p:notesMasterIdLst>
    <p:notesMasterId xmlns:r="http://schemas.openxmlformats.org/officeDocument/2006/relationships" r:id="R07352b67f7a44652"/>
  </p:notesMasterIdLst>
  <p:sldIdLst>
    <p:sldId xmlns:r="http://schemas.openxmlformats.org/officeDocument/2006/relationships" id="256" r:id="Re9254a0b95bc4d86"/>
    <p:sldId xmlns:r="http://schemas.openxmlformats.org/officeDocument/2006/relationships" id="257" r:id="R79c92101f77347f9"/>
    <p:sldId xmlns:r="http://schemas.openxmlformats.org/officeDocument/2006/relationships" id="258" r:id="R6b33de5a7b2a465c"/>
    <p:sldId xmlns:r="http://schemas.openxmlformats.org/officeDocument/2006/relationships" id="259" r:id="R827e60157d4b4617"/>
    <p:sldId xmlns:r="http://schemas.openxmlformats.org/officeDocument/2006/relationships" id="260" r:id="R7041d75bf6d74528"/>
    <p:sldId xmlns:r="http://schemas.openxmlformats.org/officeDocument/2006/relationships" id="261" r:id="R38f41a351b5645d9"/>
    <p:sldId xmlns:r="http://schemas.openxmlformats.org/officeDocument/2006/relationships" id="262" r:id="Rf5b0d1316ba647df"/>
    <p:sldId xmlns:r="http://schemas.openxmlformats.org/officeDocument/2006/relationships" id="263" r:id="R3f78168d4b154c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7e5ab3990a4af1" /><Relationship Type="http://schemas.openxmlformats.org/officeDocument/2006/relationships/slideMaster" Target="/ppt/slideMasters/slideMaster1.xml" Id="R3b5e743d2d834f09" /><Relationship Type="http://schemas.openxmlformats.org/officeDocument/2006/relationships/notesMaster" Target="/ppt/notesMasters/notesMaster1.xml" Id="R07352b67f7a44652" /><Relationship Type="http://schemas.openxmlformats.org/officeDocument/2006/relationships/presProps" Target="/ppt/presProps.xml" Id="R327e016f531343df" /><Relationship Type="http://schemas.openxmlformats.org/officeDocument/2006/relationships/tableStyles" Target="/ppt/tableStyles.xml" Id="Rf730b05fe9cc4301" /><Relationship Type="http://schemas.openxmlformats.org/officeDocument/2006/relationships/slide" Target="/ppt/slides/slide1.xml" Id="Re9254a0b95bc4d86" /><Relationship Type="http://schemas.openxmlformats.org/officeDocument/2006/relationships/slide" Target="/ppt/slides/slide2.xml" Id="R79c92101f77347f9" /><Relationship Type="http://schemas.openxmlformats.org/officeDocument/2006/relationships/slide" Target="/ppt/slides/slide3.xml" Id="R6b33de5a7b2a465c" /><Relationship Type="http://schemas.openxmlformats.org/officeDocument/2006/relationships/slide" Target="/ppt/slides/slide4.xml" Id="R827e60157d4b4617" /><Relationship Type="http://schemas.openxmlformats.org/officeDocument/2006/relationships/slide" Target="/ppt/slides/slide5.xml" Id="R7041d75bf6d74528" /><Relationship Type="http://schemas.openxmlformats.org/officeDocument/2006/relationships/slide" Target="/ppt/slides/slide6.xml" Id="R38f41a351b5645d9" /><Relationship Type="http://schemas.openxmlformats.org/officeDocument/2006/relationships/slide" Target="/ppt/slides/slide7.xml" Id="Rf5b0d1316ba647df" /><Relationship Type="http://schemas.openxmlformats.org/officeDocument/2006/relationships/slide" Target="/ppt/slides/slide8.xml" Id="R3f78168d4b154c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05df7826a44d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c464b8c8b94524" /><Relationship Type="http://schemas.openxmlformats.org/officeDocument/2006/relationships/notesMaster" Target="/ppt/notesMasters/notesMaster1.xml" Id="R1131e18101d141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ab3623bf5c4dd6" /><Relationship Type="http://schemas.openxmlformats.org/officeDocument/2006/relationships/notesMaster" Target="/ppt/notesMasters/notesMaster1.xml" Id="Rd922fce776ec46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33513953b84a67" /><Relationship Type="http://schemas.openxmlformats.org/officeDocument/2006/relationships/notesMaster" Target="/ppt/notesMasters/notesMaster1.xml" Id="R35f53f7ae1914c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3f58b06b45483c" /><Relationship Type="http://schemas.openxmlformats.org/officeDocument/2006/relationships/notesMaster" Target="/ppt/notesMasters/notesMaster1.xml" Id="R3b2a62505f5547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824a4de24b4e6e" /><Relationship Type="http://schemas.openxmlformats.org/officeDocument/2006/relationships/notesMaster" Target="/ppt/notesMasters/notesMaster1.xml" Id="Rba27582a171e45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10268d7b8e4c64" /><Relationship Type="http://schemas.openxmlformats.org/officeDocument/2006/relationships/notesMaster" Target="/ppt/notesMasters/notesMaster1.xml" Id="Rc940ca4294ff41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49e082898b427f" /><Relationship Type="http://schemas.openxmlformats.org/officeDocument/2006/relationships/notesMaster" Target="/ppt/notesMasters/notesMaster1.xml" Id="Re7fc02c1cd5b4f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68e3554a6f4bb4" /><Relationship Type="http://schemas.openxmlformats.org/officeDocument/2006/relationships/notesMaster" Target="/ppt/notesMasters/notesMaster1.xml" Id="Rf6b1c00090a14c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Усі числа та висновки в наступних слайдах марковані як: [Ф] публічний факт, [В] вимірювання нашого MVP, [С] сценарій для перевірки на пілоті.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цитати: src/lib/data/real-data.json, Vodafone, Google Play review, 06.05.2026. Цитата анонімізована. Пояснити просто: система збирає відкриті повідомлення, допомагає відокремити тему й причину, після чого людина в команді перевіряє першоджерело та вирішує наступну дію.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цифр: src/lib/data/real-summary.json. 251 — публічні скарги про зв’язок у вибірці. Категорії застосунок, тарифи й списання коштів наведені як інші теми, які не є фокусом MVP. Це дані згадок, не унікальних клієнтів.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live: Аналіз періодів, 30-денний зріз, кнопка «Відкрити у фіді». Не називати 15 згадок скаргами.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один запис і перехід до оригіналу. Це ключовий доказ роботи на відкритих реальних матеріалах. Не показувати персональні дані авторів.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Склад: Google Play, App Store, Google News, 38 публічних Telegram-каналів; локальна модель тональності; SQLite; Next.js dashboard. Перед будь-якою ескалацією команда перевіряє першоджерело та масштаб. Швидкість одного циклу і статистика алертів винесені на наступний слайд.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121 секунд — час одного ручного запуску від початку збору до дашборда. Планувальник не налаштований, тому регулярну затримку виявлення не вимірювали. Детектор сформував 205 сигналів за рік, з них один досяг рівня wake. Для хибного сигналу двоє людей на годину — сценарна оцінка трудовитрат, не грошова вартість. Географія: 10/251, 4%.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Офіційне джерело ARPU: https://www.vodafone.ua/news/business-invest/vodafone-invests . Розрахунок: 600 000 ÷ (154×12) ≈325 абонентів, кожен утриманий повні 12 місяців. Це поріг за річною виручкою до маржі та операційних витрат, не прибуткова окупність і не підтверджений ефект системи. Бюджет — сценарій. Пілот перевіряє причинний ефект через знеособлену CRM та контрольну групу.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5bb05ec46644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55efad196c456d" /><Relationship Type="http://schemas.openxmlformats.org/officeDocument/2006/relationships/slideLayout" Target="/ppt/slideLayouts/slideLayout1.xml" Id="R98b5ad70df734c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b5ad70df734c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8cc43236a4ca4" /><Relationship Type="http://schemas.openxmlformats.org/officeDocument/2006/relationships/notesSlide" Target="/ppt/notesSlides/notesSlide1.xml" Id="Re4234b9da96747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21d9412b84333" /><Relationship Type="http://schemas.openxmlformats.org/officeDocument/2006/relationships/notesSlide" Target="/ppt/notesSlides/notesSlide2.xml" Id="R923e4f5f65c14b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56daabaa947c0" /><Relationship Type="http://schemas.openxmlformats.org/officeDocument/2006/relationships/notesSlide" Target="/ppt/notesSlides/notesSlide3.xml" Id="Ree32685d038a47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f3a4aa7fc4ce9" /><Relationship Type="http://schemas.openxmlformats.org/officeDocument/2006/relationships/image" Target="/ppt/media/image.png" Id="R057c95e588b3411f" /><Relationship Type="http://schemas.openxmlformats.org/officeDocument/2006/relationships/notesSlide" Target="/ppt/notesSlides/notesSlide4.xml" Id="R2693f729690645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ee0ed40484067" /><Relationship Type="http://schemas.openxmlformats.org/officeDocument/2006/relationships/image" Target="/ppt/media/image2.png" Id="R6a21578410644f69" /><Relationship Type="http://schemas.openxmlformats.org/officeDocument/2006/relationships/notesSlide" Target="/ppt/notesSlides/notesSlide5.xml" Id="R31667c3678134b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84ef33cc740ea" /><Relationship Type="http://schemas.openxmlformats.org/officeDocument/2006/relationships/notesSlide" Target="/ppt/notesSlides/notesSlide6.xml" Id="Rcbb25c8b6ece4a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03843d4c64b51" /><Relationship Type="http://schemas.openxmlformats.org/officeDocument/2006/relationships/notesSlide" Target="/ppt/notesSlides/notesSlide7.xml" Id="R4a7411366dbc4a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b80ea40d441c0" /><Relationship Type="http://schemas.openxmlformats.org/officeDocument/2006/relationships/notesSlide" Target="/ppt/notesSlides/notesSlide8.xml" Id="R12e8c5c11b7a42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6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5E3F5-F196-4522-87DE-E2AB535D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VODAFONE: AI REPUTATION &amp; CRISIS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FD599-6953-450F-8805-953D7066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876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Бізнес-кейс раннього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виявлення репутаційних ризиків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F6CCF-5CBA-4918-80E5-30858523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Робочий MVP на відкритих даних України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B6A59-C303-43B6-B6F6-B9110BCF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558BF-3BC7-4B51-A105-B3AC28E0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20 627 відкритих згадок за рік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470D3-F6FC-4DA1-AE52-4E2BF869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Репутаційний сигнал, придатний для перевірки та дії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C959B-2F01-45BA-B8F8-215ED1EE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0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 UA · вересень 2026</a:t>
            </a:r>
          </a:p>
        </p:txBody>
      </p:sp>
    </p:spTree>
    <p:extLst>
      <p:ext uri="{BB962C8B-B14F-4D97-AF65-F5344CB8AC3E}">
        <p14:creationId xmlns:p14="http://schemas.microsoft.com/office/powerpoint/2010/main" val="4024578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F2AB3D-BB48-4E1A-96C6-7304CD45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РОБИТЬ СИСТЕМА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F4C99-5A92-488B-8FCC-903C6E0F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Вона знаходить важливі згадки й допомагає команді вирішити, що перевірити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8AFE3-0F99-495D-A7F2-A664A728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403F8-0463-465C-82DC-FF0EFAB5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A1998-74A7-43EF-86B1-FA55BB33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38700" cy="31242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2832C-3254-4DD3-AD4F-E2400B41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Реальний відгук Vodafone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0E60C-75A8-45E7-A3DE-9D2DBBB8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171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«…якщо не вирішите мою проблему,</a:t>
            </a:r>
          </a:p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 перейду на lifecell»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1FED8-6791-404B-B14A-349CE519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Google Play · 06.05.2026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Дані автора не збираємо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B06E9-4030-4FC1-B8D4-774E3C0C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47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Як працює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E3A0E-A863-431A-8556-26FDB719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5D2B2-88A0-48F2-942C-78E8B412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003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38B5D-1C12-4C0C-AAA1-2B3EF2C7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907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Збирає відкриті згадки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02B22-A2AF-4CA7-8075-6EAF5489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28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F518B-C7A1-4AB4-AD81-ADCE752F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480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8E502-7EDE-4993-AE02-D54673C9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384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Визначає тему й можливу причину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A8C58-2078-4342-93BD-F584AC14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766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DA6134-6548-4D6B-BC8A-A7A41B44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957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BEAB8-CDB9-45DE-9E29-1FB646C9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861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Показує сигнал і посилання на джерело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94C3F-9029-4FFC-BECC-339D9063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24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5CD9BF-4912-404A-AADA-32058742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434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95FAD-2A64-4F12-844B-DD377E01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338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Команда перевіряє та вирішує, що робити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A98062-A6A1-4059-84CF-4BA1190A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23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Приклад сигналу, не доказ відтоку: відгук висловлює намір змінити оператора.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43EEBC-EFA1-415A-9DF3-3712DD57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Реальний публічний відгук у базі MVP, 06.05.2026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9B6755-4D72-4759-B51B-3AFEBFE7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20541344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2B73E9-2369-4B07-AA30-544F113A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ЧОМУ МИ ЗВУЗИЛИ ФОКУС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31BA7-B19F-4293-8C04-10D72D2A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251 із 1 130 скарг стосується зв’язку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48F5E-05DF-4528-8C73-A222AF39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636A1-6F56-49A7-86F2-4D34F6C3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6C1FD-8E8C-40E9-9998-3187A047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43075"/>
            <a:ext cx="65151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D6564-6DC4-4AE4-BFD8-A79E6580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20 627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7A0C3-69C4-4384-8B7A-608EC5CD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6690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відкритих згадок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630B2-E0B3-4338-9F10-CC40B683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6000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685E6-AFCD-4B81-B367-C1D7741C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43175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9 610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74C73-BFE1-442C-A6E7-53EA1FAB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6222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 про Vodafone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E678B-2C62-4741-A12C-44A950A4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54864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AD6E0-4E28-4804-816F-E98D6B31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1 130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AAEE3-54A8-4600-A149-70058C3D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5755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Vodafone за всіма темами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49C36-F68E-4200-9A47-8FE072C3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49720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86C5EC-3C7E-4E1A-BDBC-22635ADE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33825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FB1E8A-43DC-409E-930C-6318D22B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5287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скарга про зв’язок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655D2-FAF7-4211-B37F-24C607DE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4785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Чому саме зв’язок?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9AD7F-8F58-4889-B296-5D8F8C3F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Ці повідомлення допомагають визначити, що перевірити: покриття, мережу чи резервне живлення.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69ECC-4BDD-40C0-9041-0861F584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43325"/>
            <a:ext cx="2952750" cy="1133475"/>
          </a:xfrm>
          <a:prstGeom xmlns:a="http://schemas.openxmlformats.org/drawingml/2006/main" prst="roundRect">
            <a:avLst>
              <a:gd name="adj" fmla="val 1344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94E146-7185-425A-A562-66547C5E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33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Інші скарги теж є в базі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E8F42-8ABA-4489-A08F-A6A1C8AA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862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Застосунок 241 · тарифи 164</a:t>
            </a:r>
          </a:p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Списання коштів 59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53B2E0-2A0B-4544-85BA-C9FEBF38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05425"/>
            <a:ext cx="1000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251 — кількість публічних скарг у вибірці, не кількість постраждалих абонентів.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01E404-B45B-4988-9CC1-BAA2FADC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real-summary.json · період 01.09.2025–19.09.2026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1FDF27-74AC-4170-8480-6790BFFD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343001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CC37F-30AB-44E1-A341-43EED16B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РОБОЧИЙ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A0CB6-D7F6-4776-8269-73286109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30-денний зріз: команда бачить динаміку, а не абстрактну тональність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2A85B-F111-4A44-AA1F-D507F6B7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A9B09-2DD1-4AA8-B42B-7D3D1CA7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c95e588b3411f"/>
          <a:srcRect xmlns:a="http://schemas.openxmlformats.org/drawingml/2006/main" l="64" t="0" r="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90700"/>
            <a:ext cx="7239000" cy="40005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22C03-AD72-4D92-8AD4-76550D83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FB13F-A612-455A-AD2C-E92678ED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A8387-2190-4B98-8BC1-1B893357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145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 30 днів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62158-46E5-431D-882F-B4ED5477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C29D6-AA4F-4309-8A34-B0E149B2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D10CC-0DEB-4159-950D-D9A0B6CB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6707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у цьому зрізі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67385-9534-4901-9FAD-3870BFA3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24375"/>
            <a:ext cx="2905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Демо на захисті: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Обрати період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Побачити зміну обсягу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Відкрити стрічку первинних повідомлень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EA148-415B-4670-B370-B66D9E7D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21.08–19.09.2026. 15 згадок, 7 скарг.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1D43C-83AB-4678-92E1-FA3F0FA5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3693237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09435-E23E-4219-9ECB-785C20A4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ДОКАЗОВІСТЬ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14829-F21B-4627-B38F-8C5DAC6A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Кожна цифра в дашборді відкривається до першоджерела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ED19A-A8BF-4A27-AF73-8E70499D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924DE-5689-4BE9-917F-FE2F86E8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1578410644f69"/>
          <a:srcRect xmlns:a="http://schemas.openxmlformats.org/drawingml/2006/main" l="76" t="0" r="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7715250" cy="3514725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5E6D1-7342-4C90-85AC-43CAAF2D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бачить аналітик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8ED5A-5694-4370-A512-D4B19A63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23336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Категорія скарги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Релевантність до зв’язку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Оцінка ризику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Посилання на оригінал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FB8B9-1233-4AAF-B3E8-29354B1C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0075"/>
            <a:ext cx="2238375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81220-0B1E-465B-BFCF-8CD57B01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482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Результат придатний</a:t>
            </a:r>
          </a:p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для перевірки й дії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7759A-0C50-4994-B24B-B4393AFB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стрічка повідомлень, 19.09.2026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A2757-67E1-459C-BA96-1BEA2FD0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7111087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68D143-6369-4E38-85B0-3A7BC5BC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СИСТЕМА І ДІЯ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053B6-ABE8-4FEB-95D9-7F702ED5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запис проходить спільний конвеєр і дає різні дії командам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F59E3-BAC7-4CF6-9BF9-8DD8AC6D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6E599-CBAF-44CE-9181-11A4EA97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0745B-F205-4946-9E9A-1A3C24F6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211AC-399C-4F80-A016-8D68531F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Джерела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EF6AE-9DFA-4790-BB8E-1A1CA218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Play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App Store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News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38 Telegram-каналів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0467F-E1B6-44CB-85DC-CE0ECB49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4EF91-1909-4837-AEBA-420EF067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1D24F-7C85-4339-89D3-9DE60CEA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AI-аналіз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15598-8390-4D5F-9F1B-5FF70572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тональність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причина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ризик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783BB4-4A69-4AF5-AE5A-E142C4C2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AFAAE-F3ED-465F-AB13-78C03CD4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E4B66-CEFD-4D9F-95C9-59170FC8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Сховище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600C5-7D05-45C4-B199-49E9C546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SQLite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дедуплікація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історія сигналів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688AF-C5CC-4886-ABB1-BC8C3061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2A6FCA-F959-4C78-9584-21D6CB38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2C94D9-3F07-4564-9A84-04A9485C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Дашборд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B57CA5-F2DD-4345-8692-A0149387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період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стрічка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першоджерело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алерт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B72A9-CC6A-42DC-9006-B6FEE904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Сценарій комунікаційного менеджера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22D6E2-783E-4D03-938D-F9DE709A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Перевіряє сигнал і першоджерела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Узгоджує масштаб із технічною командою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Передає підтримці фактичне формулювання проблеми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B86D10-C5DE-4263-8702-2E206389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3857625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35F042-A3FF-42E9-95CA-BE9A48A8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10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Перед дією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180393-ED79-4EC4-BFDD-91B056FD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29150"/>
            <a:ext cx="314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Людина перевіряє першоджерело та масштаб сигналу, тоді визначає відповідь команд.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101F10-1293-4CB4-9206-E217D469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PROJECT_LOG.md: джерела, аналіз, сховище та правила детекції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D6D419-B57D-4B17-A08E-FCB6BA86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21255412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4A553-70D1-4BDE-B4C2-B2830A96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ШВИДКІСТЬ ТА ОБМЕЖЕННЯ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65CEB-6E0C-4F1E-8505-73FA31A1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Що саме виміряли у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6DA7A-32E9-4362-8913-EB95E283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AB756-C8B0-4C97-ACED-9E2EE589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6C070-3681-4044-A0EF-F5FE55BF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4A756-6194-474E-A20D-92C8279E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121 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78429-3319-4413-8F16-9E67E486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запуск вручну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збору до дашборда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105F1-76B6-4758-AD17-7BDA1ECB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Збір 89 с · аналіз 1 с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пошук сплеску 31 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41E33-57AB-48AC-8675-358200BA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C3384-EF62-46AE-BACF-CC53CB6E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C4301-BE6F-4948-A12D-2FB85229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57500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сигналів за рік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досяг рівня «будити»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148BE-9D40-44FE-AC15-D3FF4D68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957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Можлива ціна хибної тривоги [С]:</a:t>
            </a:r>
          </a:p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2 фахівці × 1 година перевірки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9CAAB-B4E3-4F66-BEA4-5A414B94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8D016-FF12-48F1-9DA5-E00E3E46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A9ACA-724C-4BD5-8470-454012F7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57500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мають названу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локацію: 10 із 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678CC-A0DE-43E5-93B2-653C1AFA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957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Цього достатньо для перевірки,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але не для рішення про інвестиції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BC481-42A5-429D-B0A8-B84A0480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Автоматичний розклад запусків не налаштований, тому регулярну затримку виявлення ми ще не виміряли.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AAD8CB-8580-4976-913E-791C9F53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PROJECT_LOG.md; [С] трудовитрати команди при хибній тривозі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BB1496-F08E-4A08-8C7B-A1E7A599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9811929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FFA52A-B385-4065-845A-B8FD7DB8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БІЗНЕС-ЦІННІСТЬ ПІЛОТА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5C4E9-5D01-4972-98CB-8F74344E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Що означає бюджетний сценарій 600 000 грн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DB8FF-BEC1-41E8-A0C8-47F832D3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5BC2D-15C0-477C-AD08-AE7B1E53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19655-8D76-4929-A7CE-759C784D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154 грн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3E8DA-4C2E-4067-837D-34DDCA95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ARPU на місяць [Ф]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F94E3-57EF-4B0F-A4B4-231D7EB6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×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187FC-DE6C-4CD7-98F2-860727E9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1 848 грн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36F42-42D2-4DDA-9DBB-C1DB253D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середня виручка з абонента за рік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BEC4CA-68D4-44B6-809F-33D047F8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729615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E11AA-CDBD-4235-9779-E669A3A4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600 000 грн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DF978-ED4D-4449-ABBF-83FD76C0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385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річний бюджет пілота [С]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22DF9-3029-4E5D-98F6-5BE69D6A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528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÷ 1 848 грн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2C50D-78C6-4CCA-96B6-E86BFD62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718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≈325 абонентів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327C9-234B-4F56-AAF6-96F1BBAC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857625"/>
            <a:ext cx="2305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утриманих на повні 12 місяців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F3E459-C3AA-41E3-888C-DC78E8E7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Як перевірити сценарій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9952D-A79F-4482-A140-9BFE5B3F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0505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Пілот вимірює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40495-9D4F-4007-A17E-1E97EA38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14625"/>
            <a:ext cx="2714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час до рішення команди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частку підтверджених сигналів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відтік проти контрольної групи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F55AE-BB59-4763-BF64-8C3F3DED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57625"/>
            <a:ext cx="2714625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CA63A-5CF6-40E2-A47A-8AE7E505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48125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Важливо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FF2BC7-FB2B-4E64-9F7D-FD8A9BC0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29125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Це поріг за виручкою, не прибутком. Він не враховує маржу та операційні витрати.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25AA76-F7B3-4E35-89F3-327660A7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[Ф] Vodafone Україна, І півріччя 2026: ARPU 154 грн. [С] Бюджет 600 тис. грн/рік.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B668D1-166B-4A27-814B-0A340515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377004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2026-09-19T19:15:30.8860000Z</dcterms:created>
  <dcterms:modified xsi:type="dcterms:W3CDTF">2026-09-19T19:15:30.8860000Z</dcterms:modified>
</coreProperties>
</file>