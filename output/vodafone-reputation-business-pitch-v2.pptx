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542af6b2514bd2" /><Relationship Type="http://schemas.openxmlformats.org/officeDocument/2006/relationships/extended-properties" Target="/docProps/app.xml" Id="R6ffd898a4f5542b5" /><Relationship Type="http://schemas.openxmlformats.org/officeDocument/2006/relationships/officeDocument" Target="/ppt/presentation.xml" Id="R0e453f6392d14a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7c932ae80e46ce"/>
  </p:sldMasterIdLst>
  <p:notesMasterIdLst>
    <p:notesMasterId xmlns:r="http://schemas.openxmlformats.org/officeDocument/2006/relationships" r:id="R4f792f8bfa704f08"/>
  </p:notesMasterIdLst>
  <p:sldIdLst>
    <p:sldId xmlns:r="http://schemas.openxmlformats.org/officeDocument/2006/relationships" id="256" r:id="R3608fad0164741ec"/>
    <p:sldId xmlns:r="http://schemas.openxmlformats.org/officeDocument/2006/relationships" id="257" r:id="R2d2f9b9eef814eac"/>
    <p:sldId xmlns:r="http://schemas.openxmlformats.org/officeDocument/2006/relationships" id="258" r:id="R383981227dbe41fa"/>
    <p:sldId xmlns:r="http://schemas.openxmlformats.org/officeDocument/2006/relationships" id="259" r:id="Re54369f8226b4715"/>
    <p:sldId xmlns:r="http://schemas.openxmlformats.org/officeDocument/2006/relationships" id="260" r:id="R23290a8a2abc47a0"/>
    <p:sldId xmlns:r="http://schemas.openxmlformats.org/officeDocument/2006/relationships" id="261" r:id="R9c2b9cf99a2c4f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6c27a9133b4115" /><Relationship Type="http://schemas.openxmlformats.org/officeDocument/2006/relationships/slideMaster" Target="/ppt/slideMasters/slideMaster1.xml" Id="Rf37c932ae80e46ce" /><Relationship Type="http://schemas.openxmlformats.org/officeDocument/2006/relationships/notesMaster" Target="/ppt/notesMasters/notesMaster1.xml" Id="R4f792f8bfa704f08" /><Relationship Type="http://schemas.openxmlformats.org/officeDocument/2006/relationships/presProps" Target="/ppt/presProps.xml" Id="R4fd712aa183a4998" /><Relationship Type="http://schemas.openxmlformats.org/officeDocument/2006/relationships/tableStyles" Target="/ppt/tableStyles.xml" Id="R7037a23ef65c4e37" /><Relationship Type="http://schemas.openxmlformats.org/officeDocument/2006/relationships/slide" Target="/ppt/slides/slide1.xml" Id="R3608fad0164741ec" /><Relationship Type="http://schemas.openxmlformats.org/officeDocument/2006/relationships/slide" Target="/ppt/slides/slide2.xml" Id="R2d2f9b9eef814eac" /><Relationship Type="http://schemas.openxmlformats.org/officeDocument/2006/relationships/slide" Target="/ppt/slides/slide3.xml" Id="R383981227dbe41fa" /><Relationship Type="http://schemas.openxmlformats.org/officeDocument/2006/relationships/slide" Target="/ppt/slides/slide4.xml" Id="Re54369f8226b4715" /><Relationship Type="http://schemas.openxmlformats.org/officeDocument/2006/relationships/slide" Target="/ppt/slides/slide5.xml" Id="R23290a8a2abc47a0" /><Relationship Type="http://schemas.openxmlformats.org/officeDocument/2006/relationships/slide" Target="/ppt/slides/slide6.xml" Id="R9c2b9cf99a2c4f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5565d96d8847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97e03c9d364ae7" /><Relationship Type="http://schemas.openxmlformats.org/officeDocument/2006/relationships/notesMaster" Target="/ppt/notesMasters/notesMaster1.xml" Id="R9067ff65069646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96f86a7555435b" /><Relationship Type="http://schemas.openxmlformats.org/officeDocument/2006/relationships/notesMaster" Target="/ppt/notesMasters/notesMaster1.xml" Id="R4cc4a89e748a4c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3ecdefdfae4979" /><Relationship Type="http://schemas.openxmlformats.org/officeDocument/2006/relationships/notesMaster" Target="/ppt/notesMasters/notesMaster1.xml" Id="R2afc681a57574f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d6374c582944f5" /><Relationship Type="http://schemas.openxmlformats.org/officeDocument/2006/relationships/notesMaster" Target="/ppt/notesMasters/notesMaster1.xml" Id="R6562adae36f448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6cdd25881049f5" /><Relationship Type="http://schemas.openxmlformats.org/officeDocument/2006/relationships/notesMaster" Target="/ppt/notesMasters/notesMaster1.xml" Id="R49ed78d4371543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6a1e1043a74609" /><Relationship Type="http://schemas.openxmlformats.org/officeDocument/2006/relationships/notesMaster" Target="/ppt/notesMasters/notesMaster1.xml" Id="R8cabb6fdec5b45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цитати: src/lib/data/real-data.json, Vodafone, review, 06.05.2026. Число 4: coverage scope, direct churn intent. Не стверджувати, що людина справді пішла або не зверталась у підтримку.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цифр: src/lib/data/real-summary.json. 251 — кількість публічних скарг у фокусі, не кількість постраждалих абонентів.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live: Аналіз періодів, 30-денний зріз, кнопка «Відкрити у фіді». Не називати 15 згадок скаргами.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один запис і перехід до оригіналу. Це ключовий доказ роботи на відкритих реальних матеріалах. Не показувати персональні дані авторів.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Склад: Google Play, App Store, Google News, 38 публічних Telegram-каналів; локальна модель тональності; SQLite; Next.js dashboard. 121 секунд — час одного ручного запуску, не SLA виявлення. Wake вимагає кількох умов, включно з різними типами джерел.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Офіційне джерело ARPU: https://www.vodafone.ua/news/business-invest/vodafone-invests . 600 000 грн — сценарій для розрахунку порогу окупності, не фактичний бюджет MVP. Перевірка ефекту потребує знеособлених CRM даних і правил порівняння груп.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4573e831af4d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795eaad00045c0" /><Relationship Type="http://schemas.openxmlformats.org/officeDocument/2006/relationships/slideLayout" Target="/ppt/slideLayouts/slideLayout1.xml" Id="R275b14df68d94f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5b14df68d94f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0196ec7bbb4fb2" /><Relationship Type="http://schemas.openxmlformats.org/officeDocument/2006/relationships/notesSlide" Target="/ppt/notesSlides/notesSlide1.xml" Id="R04be4979504043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f1046d8ce4edc" /><Relationship Type="http://schemas.openxmlformats.org/officeDocument/2006/relationships/image" Target="/ppt/media/image.png" Id="R51db636f913541d1" /><Relationship Type="http://schemas.openxmlformats.org/officeDocument/2006/relationships/notesSlide" Target="/ppt/notesSlides/notesSlide2.xml" Id="Rbc4557bb9c5346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6fae9f0d44a70" /><Relationship Type="http://schemas.openxmlformats.org/officeDocument/2006/relationships/image" Target="/ppt/media/image2.png" Id="Rc25a2fdbe41c4acc" /><Relationship Type="http://schemas.openxmlformats.org/officeDocument/2006/relationships/notesSlide" Target="/ppt/notesSlides/notesSlide3.xml" Id="R00c9477ae49542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c5e818db94f8d" /><Relationship Type="http://schemas.openxmlformats.org/officeDocument/2006/relationships/image" Target="/ppt/media/image3.png" Id="R5b6d10756b194fbe" /><Relationship Type="http://schemas.openxmlformats.org/officeDocument/2006/relationships/notesSlide" Target="/ppt/notesSlides/notesSlide4.xml" Id="R1a926371e82c4a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7b733b03544352" /><Relationship Type="http://schemas.openxmlformats.org/officeDocument/2006/relationships/notesSlide" Target="/ppt/notesSlides/notesSlide5.xml" Id="R2ce21f5ee94242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d07a4458e4dfe" /><Relationship Type="http://schemas.openxmlformats.org/officeDocument/2006/relationships/notesSlide" Target="/ppt/notesSlides/notesSlide6.xml" Id="R44b7112e63aa47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428D9-004A-4788-A9BD-29745091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2659E-D093-4767-B143-AD958072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7715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Репутаційний сигнал</a:t>
            </a:r>
          </a:p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до того, як клієнт вирішує піти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23EF2-62AD-41FB-9789-0B81679E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7341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CE4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D5A21E-7026-486D-A160-BAB08F91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57525"/>
            <a:ext cx="600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«…якщо не вирішите мою проблему,</a:t>
            </a:r>
          </a:p>
          <a:p xmlns:a="http://schemas.openxmlformats.org/drawingml/2006/main">
            <a:pPr algn="l">
              <a:def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 перейду на lifecell»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555F29-1470-4C94-9ACB-9C8060FC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5715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Реальний відгук Vodafone у Google Play, 06.05.2026. Дані автора не зберігаємо.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31E21-12AD-4AB1-A0DA-E219589C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1762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3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3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761A48-A822-4409-A6AD-235F3A8F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147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прямі сигнали наміру</a:t>
            </a:r>
          </a:p>
          <a:p xmlns:a="http://schemas.openxmlformats.org/drawingml/2006/main">
            <a:pPr algn="ctr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змінити оператора у фокусі</a:t>
            </a:r>
          </a:p>
          <a:p xmlns:a="http://schemas.openxmlformats.org/drawingml/2006/main">
            <a:pPr algn="ctr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про зв’язок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C2EDB3-9B5F-4D69-988B-8D0B8362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Завдання MVP: перетворити відкриту згадку на перевірюваний сигнал і конкретну дію команди.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B9DF8-C33C-447B-ADBE-7C15C563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Наша база відкритих джерел, 01.09.2025–19.09.2026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B347E-6F0F-4D13-B039-20BC0A0E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4622272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E4E09-A18E-49C4-AD6C-CC8F8802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ФОКУС ДАНИХ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2349F-0C3B-4121-B7F7-B9452B63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шуму до 251 скарги, з якими можна діяти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DD61B-CEBE-41E5-8533-6E06AD5D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D82A6-93F4-4D38-9EC4-B6EA6F8E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8E4C2-F3DE-4D5B-BCC7-14012438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47675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C1BFA-BD44-431C-939A-BE87BB54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20 627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EEB8D-EC7B-4421-82A8-C4A088FB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240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відкритих згадок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0821EE-F720-44E9-A7A5-557C603E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11480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B5CF1-EB59-4C1F-BF0F-432231EB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9 610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423A5-FA35-4A8C-9A33-0F134386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6098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 про Vodafone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2D79B-9407-453F-9DDF-F42E0330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75285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C1EC2-61C7-469B-B991-B27659F6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4F730-62E0-4036-854A-7C705E5F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956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Vodafone за всіма темами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953C7-8B7A-4F28-A612-9C3202FD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390900" cy="581025"/>
          </a:xfrm>
          <a:prstGeom xmlns:a="http://schemas.openxmlformats.org/drawingml/2006/main" prst="roundRect">
            <a:avLst>
              <a:gd name="adj" fmla="val 16393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D77F9-49D6-4EA0-BA92-6935F3C8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47AECA-DD46-498A-89EC-7F0DA01C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9814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скарга про зв’язок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0A424-4297-4F83-9EFF-25E456E4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4333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Фокус — якість зв’язку: для неї команда може перевірити мережу, покриття або резервне живлення.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db636f913541d1"/>
          <a:srcRect xmlns:a="http://schemas.openxmlformats.org/drawingml/2006/main" l="24083" t="0" r="240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714500"/>
            <a:ext cx="5905500" cy="3981450"/>
          </a:xfrm>
          <a:prstGeom xmlns:a="http://schemas.openxmlformats.org/drawingml/2006/main" prst="roundRect">
            <a:avLst>
              <a:gd name="adj" fmla="val 4306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722C8A-C05A-4AC2-8F15-D0062F1A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real-summary.json; скрін MVP, 19.09.2026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68405-BC3E-4E28-BB26-65E25EF5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20855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E70BB-68ED-4CAA-8380-722C4224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WORKING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AC3FE-45C2-4F2E-97B9-7D47113D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30-денний зріз: команда бачить динаміку, а не абстрактну тональність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A15B9-FFF2-4C8D-9747-F90A63C1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DB328-49F5-443E-928B-1EFBE861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a2fdbe41c4acc"/>
          <a:srcRect xmlns:a="http://schemas.openxmlformats.org/drawingml/2006/main" l="75" t="0" r="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7239000" cy="471487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3CC87-B8BA-437C-A7A4-C2261CD1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4B917-A58C-45BB-AE7B-741B09A0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EBBB9-753B-4592-8DBB-1BFDCB57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 30 днів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200D2-9578-41C9-871A-FF2AD3FA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A9E68-60C1-4B36-BEFB-92919D06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63235-8B7C-427F-A8D4-539A04E9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670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 цьому зрізі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CCA920-E0DE-4BCC-9239-8CDF4909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Демо на захисті: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Обрати період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Побачити зміну обсягу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Відкрити стрічку первинних повідомлень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9B2FB-3EC1-40AB-ACA8-7E5E5437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21.08–19.09.2026. 15 згадок, 7 скарг.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31A91E-BD92-44D5-A3C9-32B7EA90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6528534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C2CE5-69DB-4CB5-AF72-059EBCCC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ДОКАЗОВІСТЬ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62D48-2D85-4620-9E2B-1E9D7A80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Кожна цифра в дашборді відкривається до першоджерела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B795F-1360-4D82-90F1-E21AD729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5F8AF-F3EF-4AD3-9AFC-4C111E27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d10756b194fbe"/>
          <a:srcRect xmlns:a="http://schemas.openxmlformats.org/drawingml/2006/main" l="0" t="3016" r="0" b="30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76400"/>
            <a:ext cx="7715250" cy="471487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BEB75-47C7-484A-A96C-73AB885F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бачить аналітик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1ECCB-BF79-4B28-BDF4-0D8D93D7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Категорія скарги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Релевантність до зв’язку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Оцінка ризику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Посилання на оригінал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0DF61-8C0A-40E1-B7A0-B692328D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2238375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EB9EB-2CC8-4983-8005-B8DE26B3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Результат придатний</a:t>
            </a:r>
          </a:p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для перевірки й дії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0387A-0E67-4B80-96C9-E42A143C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стрічка повідомлень, 19.09.2026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840564-1A37-4068-9726-EBB235D7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906208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E7EE32-E498-4107-B29C-C30CE7B5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СИСТЕМА І ДІЯ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CD049-FD7D-49A2-92F2-5FE6A9E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запис проходить спільний конвеєр і дає різні дії командам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B22EA-424F-4007-A863-7F53D17D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8D37C-FEEE-4C97-B4C2-864BC9A8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6CDB49-93C7-4815-BDFE-A94134EC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1B4AB-15AC-434E-9A69-B8517F1B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Джерела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F8970-3E78-41AE-A046-FEB6F2F4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Play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App Store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News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38 Telegram-каналів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C78DC-B35E-4670-AD46-F0284094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4D821-FBC9-4F97-9305-3DB00268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CD33B-F376-419C-A167-DD35C1DF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FE3AC-3A7F-48E9-AB15-EF624D50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тональність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ризик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4547E-8432-43B4-B309-1060CDC3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E865D-22C2-4948-A72B-6031BECB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3C73FA-80F9-4439-872F-2702B158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Сховище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7E208-CFD9-4CD0-AAFE-E9706FC6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дедуплікація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історія сигналів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2180F-FF60-481F-A5D4-7955E173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5F4D5-471A-45C2-A560-C1E73D25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F156B-450D-406B-97A3-FF5C6691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Дашборд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57286-06FB-467F-9638-4A0E4BC5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період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стрічка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першоджерело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алерт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E1586-F388-4A04-8409-3EAC6319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Сценарій комунікаційного менеджера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93766C-C97F-431B-8672-F953133F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Перевіряє сигнал і першоджерела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Узгоджує масштаб із технічною командою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Передає підтримці фактичне формулювання проблеми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0200B-69EF-4A7C-BBFD-78A3479A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576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09F949-495C-4AD7-BB66-94EDD5B1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38625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0A4673-2A70-406E-A7AD-DEDF4EC4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67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повний цикл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джерел до дашборда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DB3679-C806-4AD4-B335-85B62579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53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205 сигналів за рік; 1 рівня «будити»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158006-A739-4400-B704-5F1D472E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PROJECT_LOG.md: архітектура, 121 с, 205 сигналів / 1 wake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85DD1-76DA-425D-89A0-310AB21C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6310777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F9D97B-D9BD-4DB3-B589-32C78702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БІЗНЕС-ЦІННІСТЬ ПІЛОТА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69A97-3A86-4603-91C4-80254EF5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Окупність починається з 27 утриманих абонентів на місяць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A22E7-B2E4-4415-889A-9A84F089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12CDB-0A29-42A0-B1FE-8807117C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AE94D-8C2A-439F-A742-496724A2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27488-80E3-47D3-881B-597F3B20B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ARPU на місяць [Ф]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24396-F3F8-41A8-A332-737B4846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B6206-2292-4A5C-9431-034B014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1 848 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514EF-252C-4952-BB41-AEF2512B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дохід з одного абонента на рік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7A3FF-D4C5-4EED-9BFB-DC6845DF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2961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20E18-5C41-4C9A-8AF0-E31DF787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600 000 грн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9E6F2-673F-480D-87D6-06DDA18F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річний бюджет пілота [С]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4FA638-CD09-4575-A7AF-44052648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52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÷ 1 848 грн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217015-C55D-4D0C-9CAA-0E7CEE39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718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325 / рік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C70E5-E3C0-4737-BC6E-0DFC8268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57625"/>
            <a:ext cx="1952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27 / місяць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D7A382-653D-42C5-9ABB-C5A03158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Як перевірити сценарій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ACC65-6F62-40C2-B388-B129C041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714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Зіставити реакцію на сигнал із відтоком у CRM та порівнюваною контрольною групою.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479DE5-F6DB-46E2-8DD2-BA064FEC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24275"/>
            <a:ext cx="2714625" cy="1581150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281B5-1D1C-45D2-9EF1-E04D1ADA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Чесні межі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F1A12A-1274-4F2F-A0A2-778F10C7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71975"/>
            <a:ext cx="2238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Планувальник не налаштований</a:t>
            </a:r>
          </a:p>
          <a:p xmlns:a="http://schemas.openxmlformats.org/drawingml/2006/main">
            <a:pPr algn="l">
              <a:def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Локація: 10 із 251 скарг (4%)</a:t>
            </a:r>
          </a:p>
          <a:p xmlns:a="http://schemas.openxmlformats.org/drawingml/2006/main">
            <a:pPr algn="l">
              <a:def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4 сигнали не дорівнюють 4 втраченим клієнтам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3A34BA-6139-454B-89FC-ED000D2C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[Ф] Vodafone Україна, І півріччя 2026: ARPU 154 грн. [С] Бюджет 600 тис. грн/рік.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913117-ED17-4E7A-A5D8-D8C39FBB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2079449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2026-09-19T18:58:03.0890000Z</dcterms:created>
  <dcterms:modified xsi:type="dcterms:W3CDTF">2026-09-19T18:58:03.0890000Z</dcterms:modified>
</coreProperties>
</file>