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36a8f5a6cc4dbe" /><Relationship Type="http://schemas.openxmlformats.org/officeDocument/2006/relationships/extended-properties" Target="/docProps/app.xml" Id="R26bddfeaa55c461a" /><Relationship Type="http://schemas.openxmlformats.org/officeDocument/2006/relationships/officeDocument" Target="/ppt/presentation.xml" Id="R696392be459c4d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b0cc78af7147fc"/>
  </p:sldMasterIdLst>
  <p:notesMasterIdLst>
    <p:notesMasterId xmlns:r="http://schemas.openxmlformats.org/officeDocument/2006/relationships" r:id="R244dd2aaa8254034"/>
  </p:notesMasterIdLst>
  <p:sldIdLst>
    <p:sldId xmlns:r="http://schemas.openxmlformats.org/officeDocument/2006/relationships" id="256" r:id="R2a633863551e4aa6"/>
    <p:sldId xmlns:r="http://schemas.openxmlformats.org/officeDocument/2006/relationships" id="257" r:id="Rb93ff862f938418b"/>
    <p:sldId xmlns:r="http://schemas.openxmlformats.org/officeDocument/2006/relationships" id="258" r:id="R9785dc8372644dbe"/>
    <p:sldId xmlns:r="http://schemas.openxmlformats.org/officeDocument/2006/relationships" id="259" r:id="R73aac14ae0914c83"/>
    <p:sldId xmlns:r="http://schemas.openxmlformats.org/officeDocument/2006/relationships" id="260" r:id="Rdaf6653d374d491c"/>
    <p:sldId xmlns:r="http://schemas.openxmlformats.org/officeDocument/2006/relationships" id="261" r:id="R99091f4993e342cd"/>
    <p:sldId xmlns:r="http://schemas.openxmlformats.org/officeDocument/2006/relationships" id="262" r:id="R575adb1246f544df"/>
    <p:sldId xmlns:r="http://schemas.openxmlformats.org/officeDocument/2006/relationships" id="263" r:id="Re237399bcdba415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87508b7a6044bf" /><Relationship Type="http://schemas.openxmlformats.org/officeDocument/2006/relationships/slideMaster" Target="/ppt/slideMasters/slideMaster1.xml" Id="R3cb0cc78af7147fc" /><Relationship Type="http://schemas.openxmlformats.org/officeDocument/2006/relationships/notesMaster" Target="/ppt/notesMasters/notesMaster1.xml" Id="R244dd2aaa8254034" /><Relationship Type="http://schemas.openxmlformats.org/officeDocument/2006/relationships/presProps" Target="/ppt/presProps.xml" Id="R738016b1d54a4698" /><Relationship Type="http://schemas.openxmlformats.org/officeDocument/2006/relationships/tableStyles" Target="/ppt/tableStyles.xml" Id="Ra1088a9da06b462c" /><Relationship Type="http://schemas.openxmlformats.org/officeDocument/2006/relationships/slide" Target="/ppt/slides/slide1.xml" Id="R2a633863551e4aa6" /><Relationship Type="http://schemas.openxmlformats.org/officeDocument/2006/relationships/slide" Target="/ppt/slides/slide2.xml" Id="Rb93ff862f938418b" /><Relationship Type="http://schemas.openxmlformats.org/officeDocument/2006/relationships/slide" Target="/ppt/slides/slide3.xml" Id="R9785dc8372644dbe" /><Relationship Type="http://schemas.openxmlformats.org/officeDocument/2006/relationships/slide" Target="/ppt/slides/slide4.xml" Id="R73aac14ae0914c83" /><Relationship Type="http://schemas.openxmlformats.org/officeDocument/2006/relationships/slide" Target="/ppt/slides/slide5.xml" Id="Rdaf6653d374d491c" /><Relationship Type="http://schemas.openxmlformats.org/officeDocument/2006/relationships/slide" Target="/ppt/slides/slide6.xml" Id="R99091f4993e342cd" /><Relationship Type="http://schemas.openxmlformats.org/officeDocument/2006/relationships/slide" Target="/ppt/slides/slide7.xml" Id="R575adb1246f544df" /><Relationship Type="http://schemas.openxmlformats.org/officeDocument/2006/relationships/slide" Target="/ppt/slides/slide8.xml" Id="Re237399bcdba415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bc6944769945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8f66b803874f5e" /><Relationship Type="http://schemas.openxmlformats.org/officeDocument/2006/relationships/notesMaster" Target="/ppt/notesMasters/notesMaster1.xml" Id="R2766397fe9e746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d9f3b97bfa4e4e" /><Relationship Type="http://schemas.openxmlformats.org/officeDocument/2006/relationships/notesMaster" Target="/ppt/notesMasters/notesMaster1.xml" Id="R35be27010eaa4c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fb72412c074948" /><Relationship Type="http://schemas.openxmlformats.org/officeDocument/2006/relationships/notesMaster" Target="/ppt/notesMasters/notesMaster1.xml" Id="R1f214ec9e9bc48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c1bf14d7b64124" /><Relationship Type="http://schemas.openxmlformats.org/officeDocument/2006/relationships/notesMaster" Target="/ppt/notesMasters/notesMaster1.xml" Id="R13345621ac5949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b9002ac3634cba" /><Relationship Type="http://schemas.openxmlformats.org/officeDocument/2006/relationships/notesMaster" Target="/ppt/notesMasters/notesMaster1.xml" Id="Rdabd8171402f45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ad52480bc04dd4" /><Relationship Type="http://schemas.openxmlformats.org/officeDocument/2006/relationships/notesMaster" Target="/ppt/notesMasters/notesMaster1.xml" Id="R72075542e5c343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db2b18a519499e" /><Relationship Type="http://schemas.openxmlformats.org/officeDocument/2006/relationships/notesMaster" Target="/ppt/notesMasters/notesMaster1.xml" Id="Rb5d15a5725874c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daded387b84de7" /><Relationship Type="http://schemas.openxmlformats.org/officeDocument/2006/relationships/notesMaster" Target="/ppt/notesMasters/notesMaster1.xml" Id="R02c4f13c2d904f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Усі числа та висновки в наступних слайдах марковані як: [Ф] публічний факт, [В] вимірювання нашого MVP, [С] сценарій для перевірки на пілоті.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цитати: src/lib/data/real-data.json, Vodafone, Google Play review, 06.05.2026. Цитата анонімізована. Пояснити просто: система збирає відкриті повідомлення, допомагає відокремити тему й причину, після чого людина в команді перевіряє першоджерело та вирішує наступну дію.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Джерело цифр: src/lib/data/real-summary.json. 251 — публічні скарги про зв’язок у вибірці. Категорії застосунок, тарифи й списання коштів наведені як інші теми, які не є фокусом MVP. Це дані згадок, не унікальних клієнтів.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live: Аналіз періодів, 30-денний зріз, кнопка «Відкрити у фіді». Не називати 15 згадок скаргами.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Показати один запис і перехід до оригіналу. Це ключовий доказ роботи на відкритих реальних матеріалах. Не показувати персональні дані авторів.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Склад: Google Play, App Store, Google News, 38 публічних Telegram-каналів; локальна модель тональності; SQLite; Next.js dashboard. Перед будь-якою ескалацією команда перевіряє першоджерело та масштаб. Швидкість одного циклу і статистика алертів винесені на наступний слайд.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121 секунд — повний цикл одного запуску. Планувальник не налаштований. 205 сигналів, 1 wake. Трудовитрати хибного спрацювання — сценарій, а не виміряна вартість. Географія: 10/251, 4%.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Офіційне джерело ARPU: https://www.vodafone.ua/news/business-invest/vodafone-invests . Розрахунок: 600 000 ÷ (154×12) ≈325 абонентів, кожен утриманий повні 12 місяців. Це поріг за річною виручкою до маржі та операційних витрат, не прибуткова окупність і не підтверджений ефект системи. Бюджет — сценарій. Пілот перевіряє причинний ефект через знеособлену CRM та контрольну групу.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45d09227e46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40b1577dd54bb7" /><Relationship Type="http://schemas.openxmlformats.org/officeDocument/2006/relationships/slideLayout" Target="/ppt/slideLayouts/slideLayout1.xml" Id="R37d45e56316c47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d45e56316c47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6b9a781fa494b" /><Relationship Type="http://schemas.openxmlformats.org/officeDocument/2006/relationships/notesSlide" Target="/ppt/notesSlides/notesSlide1.xml" Id="R01e6a252d04c40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69dfc342a4288" /><Relationship Type="http://schemas.openxmlformats.org/officeDocument/2006/relationships/notesSlide" Target="/ppt/notesSlides/notesSlide2.xml" Id="R3f47041dab3342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1b0db94e5453a" /><Relationship Type="http://schemas.openxmlformats.org/officeDocument/2006/relationships/notesSlide" Target="/ppt/notesSlides/notesSlide3.xml" Id="Ra82136ab15ae4a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963aa6bee41b6" /><Relationship Type="http://schemas.openxmlformats.org/officeDocument/2006/relationships/image" Target="/ppt/media/image.png" Id="R4e1366a9547146c2" /><Relationship Type="http://schemas.openxmlformats.org/officeDocument/2006/relationships/notesSlide" Target="/ppt/notesSlides/notesSlide4.xml" Id="R0e129ca5239146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1342ceaaa467d" /><Relationship Type="http://schemas.openxmlformats.org/officeDocument/2006/relationships/image" Target="/ppt/media/image2.png" Id="R1e361ec683424670" /><Relationship Type="http://schemas.openxmlformats.org/officeDocument/2006/relationships/notesSlide" Target="/ppt/notesSlides/notesSlide5.xml" Id="R44103cad9d4d48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066a8bee44751" /><Relationship Type="http://schemas.openxmlformats.org/officeDocument/2006/relationships/notesSlide" Target="/ppt/notesSlides/notesSlide6.xml" Id="Rc256f75de7e649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57eb53d4144cd" /><Relationship Type="http://schemas.openxmlformats.org/officeDocument/2006/relationships/notesSlide" Target="/ppt/notesSlides/notesSlide7.xml" Id="R499a4ff8eaf24d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a92be59a24324" /><Relationship Type="http://schemas.openxmlformats.org/officeDocument/2006/relationships/notesSlide" Target="/ppt/notesSlides/notesSlide8.xml" Id="R2ea3907c86b84d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6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30075-FC10-412B-890A-10A0DE82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904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VODAFONE: AI REPUTATION &amp; CRISIS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6EC2A-599F-4DFD-8BEC-0CC016B9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876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Бізнес-кейс раннього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виявлення репутаційних ризиків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CF2DF-4F7F-4147-AA03-DE92E4DB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581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Робочий MVP на відкритих даних України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009AA-5057-4FEC-942C-FD12CC1C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8BE61-02A7-4AB8-8BB6-349040E6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20 627 відкритих згадок за рік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04A168-4C1C-44F2-833C-230F88DA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Репутаційний сигнал, придатний для перевірки та дії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2C54B-9D7D-4118-B9A1-D4D4967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103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Vodafone UA · вересень 2026</a:t>
            </a:r>
          </a:p>
        </p:txBody>
      </p:sp>
    </p:spTree>
    <p:extLst>
      <p:ext uri="{BB962C8B-B14F-4D97-AF65-F5344CB8AC3E}">
        <p14:creationId xmlns:p14="http://schemas.microsoft.com/office/powerpoint/2010/main" val="222620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17A263-F3B2-4B3C-9093-B25695DB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РОБИТЬ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46470-10FF-4226-B06F-D89D512F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Вона знаходить важливі згадки й допомагає команді вирішити, що перевірити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9EB26-F338-47B8-8A09-C56F790C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815D6-8056-437B-AFDF-4275FBDE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E72B7-4341-4854-97CB-D8EAE573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38700" cy="3124200"/>
          </a:xfrm>
          <a:prstGeom xmlns:a="http://schemas.openxmlformats.org/drawingml/2006/main" prst="roundRect">
            <a:avLst>
              <a:gd name="adj" fmla="val 5488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336C2-67F8-4374-B457-8130365A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Реальний відгук Vodafone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B236F-2B0D-4C16-AFE3-965537B0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«…якщо не вирішите мою проблему,</a:t>
            </a:r>
          </a:p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 перейду на lifecell»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53C99-6162-4A93-9D4E-1356A1B6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Google Play · 06.05.2026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Дані автора не збираємо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0C4A3-213E-444A-AD6E-518DB762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 працює MVP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A6DB5-2501-472C-8124-2BAA7025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81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2B7B8-1B57-4DD5-BD3B-E2F8CDB3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4003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0F25C3-DF44-4DD9-ACE5-95E0F30A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907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Збирає відкриті згадки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32AB8-8FC8-4FA6-AA26-D052B2B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289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1C941-8ADD-40E7-8E61-6FD3DD26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4F0801-0C3C-4497-95B6-26D55C0F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384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Визначає тему й можливу причину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3A65C-76E6-46C9-AF53-ACD73B3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766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2693CE-BF49-430A-962F-89E8877C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739A4-DF52-4C98-91E3-D762DC69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861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Показує сигнал і посилання на джерело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EA369-5128-4FAF-B84F-DE4C6CBC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243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7EFAA6-A510-459F-BC25-269E0EBC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3434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4F43E7-AB1C-4E23-99C2-FB9506D3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338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Команда перевіряє та вирішує, що робити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21461-A873-48E3-B98B-EC5347C1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239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Приклад сигналу, не доказ відтоку: відгук висловлює намір змінити оператора.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A161FE-6877-4736-90BF-7C38987B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Реальний публічний відгук у базі MVP, 06.05.2026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AA1E45-5F38-4BFE-9DF1-525AD286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610907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50AFC6-5197-42DC-98F3-88F17F8C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МИ ЗВУЗИЛИ ФОКУС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61DAB-0EA3-4234-9D74-3323615E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Із 1 130 скарг взяли 251 про зв’язок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68845-9CAB-42BA-B393-ABB4B434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CCEA5-11B2-4C3B-99DD-A192FEF9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8E9BA-84F2-41B2-A53A-87979D01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65151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9CDD0-ACD8-4F1F-96B9-910DE544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4785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20 627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72DA7-DC61-4E8D-93A4-C899855C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6690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відкритих згадок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743F7-1379-4D6D-A953-0F761138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60007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975949-33CD-4942-9CA5-35C31F1B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9 610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8BF1A-2F27-4228-9803-56C4C9AD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6222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 про Vodafone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4AE50A-E9D9-4295-BFA3-F7FACBE3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54864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D41D4-9EFE-42DE-9C2B-5E92033D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1 130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8FCD2-E50D-408D-91C9-831BDCFD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57550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Vodafone за всіма темами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F3897-7DF2-4D19-9B85-DC584646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49720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232FB-86B7-43A3-9B82-0E66BFBE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33825"/>
            <a:ext cx="1485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C6B427-87BA-4BFF-9E48-28AA0F2A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952875"/>
            <a:ext cx="4000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скарга про зв’язок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9B570-C322-4065-A0B1-4B96D51F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Чому саме зв’язок?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CA7E0-38EA-4435-BC5F-CAC58928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95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тема, для якої команда може перевірити мережу, покриття або резервне живлення.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1447D8-7EFA-40A3-9E9B-534185D5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43325"/>
            <a:ext cx="2952750" cy="1133475"/>
          </a:xfrm>
          <a:prstGeom xmlns:a="http://schemas.openxmlformats.org/drawingml/2006/main" prst="roundRect">
            <a:avLst>
              <a:gd name="adj" fmla="val 1344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24755-3D23-4515-A05B-EBEF5FD9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338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Інші скарги теж є в базі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FA4B97-5B86-458A-8BCC-9BD4C7E7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Застосунок 241 · тарифи 164</a:t>
            </a:r>
          </a:p>
          <a:p xmlns:a="http://schemas.openxmlformats.org/drawingml/2006/main">
            <a:pPr algn="l">
              <a:def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Списання коштів 59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255FF1-5086-4AEC-8054-44CE4A7F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05425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251 — кількість публічних скарг у вибірці, не кількість постраждалих абонентів.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E62635-29EA-4353-85BC-B492D1DD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real-summary.json · період 01.09.2025–19.09.2026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D00EA9-1201-4382-8412-990740D0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508142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98427-1FA4-4601-A7B9-B2D8D79B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РОБОЧИЙ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31BEE-D209-4AE9-B844-87C916A5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30-денний зріз: команда бачить динаміку, а не абстрактну тональність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F813C-81E0-4804-AE9D-98CA7408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4149D8-18C3-401F-8896-60D932F1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366a9547146c2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790700"/>
            <a:ext cx="7239000" cy="40005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CD603-8E7D-4356-B63D-AC416318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EE4A66-2AA7-4B90-8A9D-60874B63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B39B1-003B-44E6-9D3E-8DDCD17B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згадок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за 30 днів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18996-DDC7-4B10-8D75-A17DE1FF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05150"/>
            <a:ext cx="2905125" cy="923925"/>
          </a:xfrm>
          <a:prstGeom xmlns:a="http://schemas.openxmlformats.org/drawingml/2006/main" prst="roundRect">
            <a:avLst>
              <a:gd name="adj" fmla="val 16495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9A1DB-B9C2-4376-8150-3FCA2E55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670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30F2A7-2367-4BDF-A0D1-139D361E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267075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</a:t>
            </a:r>
          </a:p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у цьому зрізі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AAE4BA-0D38-41BE-AAF2-F21B2050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24375"/>
            <a:ext cx="2905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Демо на захисті: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Обрати період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Побачити зміну обсягу</a:t>
            </a:r>
          </a:p>
          <a:p xmlns:a="http://schemas.openxmlformats.org/drawingml/2006/main">
            <a:pPr algn="l">
              <a:def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Відкрити стрічку первинних повідомлень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607811-3C40-48DA-9132-AA25AD70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21.08–19.09.2026. 15 згадок, 7 скарг.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0F8EE-C231-4BE6-97CE-4BC24E25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724213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F544E5-A7B9-4933-8FE3-476B8705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ДОКАЗОВІСТЬ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CB7AF-617F-4A6B-ACEC-0D53374A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Кожна цифра в дашборді відкривається до першоджерела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F4A59-5CCB-4394-94A1-012AF80D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2F8F8-7DAF-42DD-B051-C30B6A20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361ec683424670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7715250" cy="3514725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7F76A-BD9F-4022-AC3F-D90FA1F94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Що бачить аналітик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E521B-59B3-429A-BD63-74B7BD23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Категорія скарги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Релевантність до зв’язку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Оцінка ризику</a:t>
            </a:r>
          </a:p>
          <a:p xmlns:a="http://schemas.openxmlformats.org/drawingml/2006/main">
            <a:pPr algn="l">
              <a:def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Посилання на оригінал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3ECF2-A9E3-40C1-BD6B-D0289136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10075"/>
            <a:ext cx="2238375" cy="981075"/>
          </a:xfrm>
          <a:prstGeom xmlns:a="http://schemas.openxmlformats.org/drawingml/2006/main" prst="roundRect">
            <a:avLst>
              <a:gd name="adj" fmla="val 13592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F5AF8-AC28-4A4F-BB9E-3598D85F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648200"/>
            <a:ext cx="1857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Результат придатний</a:t>
            </a:r>
          </a:p>
          <a:p xmlns:a="http://schemas.openxmlformats.org/drawingml/2006/main">
            <a:pPr algn="ctr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для перевірки й дії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B1DF79-A7DA-4E7B-AD09-B7DADDD8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Скрін MVP: стрічка повідомлень, 19.09.2026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BE5EC-FE16-4BB1-AC70-FEE42C80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588190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6A62BA-C58A-4290-B687-67B42E2F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СИСТЕМА І ДІЯ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97F6E-62A1-4C5E-AAD7-88457E39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запис проходить спільний конвеєр і дає різні дії командам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DE1F54-1159-4E5F-94B0-6E5829AD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D7D78-50BE-4FAE-B9FF-914386B2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7BC0E-EFD5-4A15-AB83-07A1ADC5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BA60F4-7C52-4D30-96D7-76F98690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Джерела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F432B-1C89-44B6-96DF-967D4B31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Play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App Store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Google News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38 Telegram-каналів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3F028-F950-4DBC-9B51-668722A9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E713F-82DF-4F74-A931-D063974B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9525">
            <a:solidFill>
              <a:srgbClr val="F1B6B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A7CCA-007D-4E1B-8F59-98639506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AI-аналіз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0E7933-A21B-413D-81CF-FFCF07D6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тональність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причина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ризик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984CB-C775-4425-A03C-012A2E69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19073-9117-472E-B92B-908691D5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F5ED3-2583-4311-BCC2-0EFB07D4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Сховище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986CF-D461-44E7-815B-CB757195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SQLite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дедуплікація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історія сигналів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B59D6-C025-45BF-943F-89D33251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00300"/>
            <a:ext cx="247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6767FF-9A9A-4C99-960F-2E4029D2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28800"/>
            <a:ext cx="2333625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05C39-142B-4A51-92C6-68136B20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47875"/>
            <a:ext cx="1905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Дашборд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712E8-873B-4AF9-BFE0-EC43F018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86025"/>
            <a:ext cx="190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період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стрічка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першоджерело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алерт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2125B-8C48-44F1-89DA-15D2E6B9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Сценарій комунікаційного менеджера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FECF0D-C6F3-4929-B8FC-F10C12EB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1. Перевіряє сигнал і першоджерела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2. Узгоджує масштаб із технічною командою</a:t>
            </a:r>
          </a:p>
          <a:p xmlns:a="http://schemas.openxmlformats.org/drawingml/2006/main">
            <a:pPr algn="l">
              <a:def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3. Передає підтримці фактичне формулювання проблеми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65491-BEA9-4577-8811-68937B95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19550"/>
            <a:ext cx="3857625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F1EEDB-BF73-4505-8E08-91E62601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10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Перед дією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BAEB2E-47C6-4F95-832D-D0B121E7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29150"/>
            <a:ext cx="3143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Людина перевіряє першоджерело та масштаб сигналу, тоді визначає відповідь команд.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EE1B01-708E-42CE-A2CF-DC579BB3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PROJECT_LOG.md: джерела, аналіз, сховище та правила детекції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2303E4-C375-4D47-A6DB-7A9BC86E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4012234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54BD7-194C-4FDC-AC03-1195A0B4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РЕАЛІСТИЧНІСТЬ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8C330-740D-416F-9D40-62109CA6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Швидкість виміряна. Обмеження названі прямо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362E01-A69B-4FA5-B14E-B312F4A0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7190A1-F2A3-45BD-A698-032DAC11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36332-395F-43FA-8899-EEEE9BB8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B75EA-9A91-492B-8C44-A4D75CC0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121 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83467-B85A-4B67-B16B-40912B50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один повний цикл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 джерел до дашборда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0FB1D-8214-4FA4-A2EC-EE5441B1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Збір 89 с · аналіз 1 с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детекція 31 с · експорт 0,04 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3FA70-D91C-4753-A784-53BE4AA2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B0092-A819-4971-8B8C-B5C7C844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205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2BCDB-F460-4844-BB64-16DF0140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857500"/>
            <a:ext cx="2381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сигналів за рік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рівня «будити»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1DC04-D1D5-42AC-AF05-616ADBB8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6957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Ціна хибної тривоги [С]: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двоє людей × 1 година перевірки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4919B-71A2-4C0B-A0E4-E81FFC89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286125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81585-EC04-4224-9012-3460A9BD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114550"/>
            <a:ext cx="2333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D1CE5-F8AE-46B3-80FE-4D2CD43F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857500"/>
            <a:ext cx="257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скарг мають названу</a:t>
            </a:r>
          </a:p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локацію: 10 із 251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A5706-A459-4256-BDD2-B8AAE36E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6957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Тому карта задає напрям</a:t>
            </a:r>
          </a:p>
          <a:p xmlns:a="http://schemas.openxmlformats.org/drawingml/2006/main">
            <a:pPr algn="l">
              <a:def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для перевірки, не рішення про інвестиції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98502-7F87-406C-A585-296CAEA6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Планувальник не налаштований. 121 с — час одного циклу, а не гарантована затримка виявлення.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E4FA1-E62C-45A1-835B-1AC75FBB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[В] PROJECT_LOG.md; [С] трудовитрати команди при хибній тривозі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EC3C1-0A77-405B-8578-3284A6DB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145508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2A6AF-A3BA-4641-815A-7A367142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БІЗНЕС-ЦІННІСТЬ ПІЛОТА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FC74E-25F0-4F14-99D4-715BBA6C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Сценарний поріг за виручкою: 325 абонентів на повний рік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97424-CF72-493D-BF04-0EF96ABB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493B6-03C0-4AD3-A35C-02345A31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C5BB8-0935-42A9-87D6-F695C925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857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154 грн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340BB-C041-4828-B509-A6E9D82F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ARPU на місяць [Ф]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4667A-3742-4A3B-B47C-0D378745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71675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×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DCE05-2CD1-45AB-A4D2-2669C6E0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809750"/>
            <a:ext cx="3143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1 848 грн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03FCD-3CDD-4D70-9D7F-2C6A9F91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дохід з одного абонента на рік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3104A-E349-48C3-9A81-200C74C1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296150" cy="138112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F98CF-EB5B-4A5A-A90C-DAE9B5D1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600 000 грн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6D3B0-D60E-48D7-8E62-D1DE8836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38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річний бюджет пілота [С]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C8231-E940-402C-B2C7-C75E2DA3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528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÷ 1 848 грн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D7CC5-6E79-4EC4-A803-DB3C25BC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71850"/>
            <a:ext cx="2238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325 абонентів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6920F-9A7A-4A71-BDBF-675FD070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857625"/>
            <a:ext cx="2305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якщо кожен лишається на 12 міс.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F6644A-5AD6-4DA3-8899-7FF1E412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09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60000"/>
                </a:solidFill>
                <a:latin typeface="Helvetica Neue"/>
                <a:ea typeface="Helvetica Neue"/>
                <a:cs typeface="Helvetica Neue"/>
              </a:rPr>
              <a:t>Як перевірити сценарій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69287C-8EFC-4431-8E0F-95E6D074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0505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Пілот вимірює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E87B1E-A578-4CE7-B9F4-5A7DCD7E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2714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 до рішення команди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частку підтверджених сигналів</a:t>
            </a:r>
          </a:p>
          <a:p xmlns:a="http://schemas.openxmlformats.org/drawingml/2006/main">
            <a:pPr algn="l">
              <a:def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відтік проти контрольної групи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A62B44-3836-4E69-BB8E-D8906F6B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57625"/>
            <a:ext cx="2714625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826990-3601-4CD2-8991-144540DC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48125"/>
            <a:ext cx="2238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0D13"/>
                </a:solidFill>
                <a:latin typeface="Helvetica Neue"/>
                <a:ea typeface="Helvetica Neue"/>
                <a:cs typeface="Helvetica Neue"/>
              </a:rPr>
              <a:t>Важливо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429577-0F35-48FF-9C99-C6CDFA07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29125"/>
            <a:ext cx="2238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1D2A3A"/>
                </a:solidFill>
                <a:latin typeface="Helvetica Neue"/>
                <a:ea typeface="Helvetica Neue"/>
                <a:cs typeface="Helvetica Neue"/>
              </a:rPr>
              <a:t>Це поріг за виручкою, не прибутком. Він не враховує маржу та операційні витрати.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C53E0-3D80-42A6-AD2B-C8EFC6EC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19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[Ф] Vodafone Україна, І півріччя 2026: ARPU 154 грн. [С] Бюджет 600 тис. грн/рік.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15CBCE-F4F9-40B0-B435-AFAAE769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6496050"/>
            <a:ext cx="2409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3748B"/>
                </a:solidFill>
                <a:latin typeface="Helvetica Neue"/>
                <a:ea typeface="Helvetica Neue"/>
                <a:cs typeface="Helvetica Neue"/>
              </a:rPr>
              <a:t>ReputationX · Vodafone UA</a:t>
            </a:r>
          </a:p>
        </p:txBody>
      </p:sp>
    </p:spTree>
    <p:extLst>
      <p:ext uri="{BB962C8B-B14F-4D97-AF65-F5344CB8AC3E}">
        <p14:creationId xmlns:p14="http://schemas.microsoft.com/office/powerpoint/2010/main" val="578589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2026-09-19T19:12:28.4210000Z</dcterms:created>
  <dcterms:modified xsi:type="dcterms:W3CDTF">2026-09-19T19:12:28.4220000Z</dcterms:modified>
</coreProperties>
</file>